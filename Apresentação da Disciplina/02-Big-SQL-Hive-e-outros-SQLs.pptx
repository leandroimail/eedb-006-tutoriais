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</p:sp>
      <p:pic>
        <p:nvPicPr>
          <p:cNvPr id="4" name="Image 0" descr="/private/tmp/claude-501/-Users-leandroimail-Documents-Big-Data/46548dac-03f9-4350-9127-15038cd5013e/scratchpad/deck-build/assets/brasao-white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635240" y="502920"/>
            <a:ext cx="4846320" cy="5513832"/>
          </a:xfrm>
          <a:prstGeom prst="rect">
            <a:avLst/>
          </a:prstGeom>
        </p:spPr>
      </p:pic>
      <p:pic>
        <p:nvPicPr>
          <p:cNvPr id="5" name="Image 1" descr="/private/tmp/claude-501/-Users-leandroimail-Documents-Big-Data/46548dac-03f9-4350-9127-15038cd5013e/scratchpad/deck-build/assets/wordmark-poliu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286000" cy="4096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1155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Educação Continuada em Engenharia  ·  Escola Politécnica da USP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85800" y="2697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SQL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Hive e outros SQLs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685800" y="4526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Trazendo o SQL de volta para o mundo distribuído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85800" y="5440680"/>
            <a:ext cx="6949440" cy="0"/>
          </a:xfrm>
          <a:prstGeom prst="line">
            <a:avLst/>
          </a:prstGeom>
          <a:noFill/>
          <a:ln w="12700">
            <a:solidFill>
              <a:srgbClr val="23219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555955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eEDB-006 · Ecossistema de Big Data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teórica · consulta em escala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Leandro Mendes Ferreira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579815" y="6263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· Poli-USP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42"/>
          </a:solidFill>
          <a:ln/>
        </p:spPr>
      </p:sp>
      <p:pic>
        <p:nvPicPr>
          <p:cNvPr id="3" name="Image 0" descr="/private/tmp/claude-501/-Users-leandroimail-Documents-Big-Data/46548dac-03f9-4350-9127-15038cd5013e/scratchpad/deck-build/assets/circular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9418320" y="448056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572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2321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68580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MOTIVAÇÃO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Escrever MapReduce à mão para cada pergunta não escala para humanos. E se o cluster entendesse SQL?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85800" y="507492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essa a aposta do Hive, no Facebook, em 2009 — e ela mudou o jogo.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Hive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1832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declarativo compilado para jobs distribuídos sobre o HDFS.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7842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7842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3" name="Shape 10"/>
          <p:cNvSpPr/>
          <p:nvPr/>
        </p:nvSpPr>
        <p:spPr>
          <a:xfrm>
            <a:off x="4633874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3874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Metastore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33874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catálogo que dá schema aos arquivos: schema-on-read.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9885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9885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5917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3408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5917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5917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Particionamento, bucketing e formatos colunares (ORC/Parquet).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5" name="Shape 20"/>
          <p:cNvSpPr/>
          <p:nvPr/>
        </p:nvSpPr>
        <p:spPr>
          <a:xfrm>
            <a:off x="941832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6177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1832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engines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41832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Presto/Trino, Impala, Spark SQL — o mesmo SQL, motores diferentes.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77842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77842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1" name="Shape 25"/>
          <p:cNvSpPr/>
          <p:nvPr/>
        </p:nvSpPr>
        <p:spPr>
          <a:xfrm>
            <a:off x="4633874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034" y="461772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33874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serverless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4633874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 + Glue Data Catalog consultando direto o S3.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069885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69885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7" name="Shape 30"/>
          <p:cNvSpPr/>
          <p:nvPr/>
        </p:nvSpPr>
        <p:spPr>
          <a:xfrm>
            <a:off x="8325917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077" y="461772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25917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usar cada um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8325917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mapa para escolher a ferramenta certa para cada caso.</a:t>
            </a:r>
            <a:endParaRPr lang="en-US" sz="1250" dirty="0"/>
          </a:p>
        </p:txBody>
      </p:sp>
      <p:pic>
        <p:nvPicPr>
          <p:cNvPr id="41" name="Image 6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Big SQL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SQL-on-Hadoop: por que existe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SQL é a camada que deixa você perguntar em SQL e delega ao cluster o “como” executar.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Declarativo, não imperativo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diz o quê quer; o motor decide o plano de execução distribuído.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 o acesso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usam o dado do lake sem escrever Java/Scala.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 o SQL que já existe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Décadas de conhecimento e ferramentas de BI passam a valer no Big Data.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lógica de motor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SQL roda em Hive, Spark SQL, Trino ou Athena.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VS. BANCO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arquivos no lake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horizontal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massiva &gt; OLTP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abertos (Parquet/ORC)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Big SQL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Hive executa uma query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 HiveQL e coordena o ciclo de vida da consulta.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 o SQL num plano de jobs (MapReduce, Tez ou Spark).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Metastore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onde estão os dados e qual o schema de cada tabela.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o plano no cluster e devolve o resultado.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74520"/>
            <a:ext cx="5148072" cy="4160520"/>
          </a:xfrm>
          <a:prstGeom prst="rect">
            <a:avLst/>
          </a:prstGeom>
          <a:solidFill>
            <a:srgbClr val="0A0942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874520"/>
            <a:ext cx="5148072" cy="384048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8" name="Shape 6"/>
          <p:cNvSpPr/>
          <p:nvPr/>
        </p:nvSpPr>
        <p:spPr>
          <a:xfrm>
            <a:off x="6556248" y="20116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20116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0116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8745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HiveQL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690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EXTERNAL TABLE vendas 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produto STRING, categoria STRING,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valor   DOUBLE, dt      DATE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 AS PARQUET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's3://datalake/vendas/';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categoria, SUM(valor) AS faturamento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vendas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dt &gt;= '2026-01-01'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 BY categoria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 BY faturamento DESC;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610819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+ LOCATION: a tabela é só metadado sobre arquivos no lake.</a:t>
            </a:r>
            <a:endParaRPr lang="en-US" sz="1050" dirty="0"/>
          </a:p>
        </p:txBody>
      </p:sp>
      <p:pic>
        <p:nvPicPr>
          <p:cNvPr id="1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Big SQL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Schema-on-read &amp; o Metastore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banco tradicional o schema é imposto na escrita; no lake, ele é aplicado na leitura.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Schema-on-write (banco)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só entra se couber no schema. Rígido, valida cedo.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 (lake)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Guarda-se o arquivo cru; o schema é aplicado quando se lê. Flexível.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Metastore é o contrato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Tabela, colunas, tipos, partições e a localização dos arquivos.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Compartilhado entre engines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Hive, Spark, Trino e Athena (via Glue) leem o mesmo catálogo.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validação na escrita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sujo passa despercebido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vira essencial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os contratos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Big SQL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fazer a query voar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Big SQL, custo é I/O. Ler menos dado é a otimização mais poderosa.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6609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Particionamento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41832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por coluna (ex.: dt=…) para varrer só o necessário — partition pruning.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7842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7842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33874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6609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3874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Bucketing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33874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por hash de uma chave para acelerar joins e amostragem.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69885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69885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0" name="Shape 16"/>
          <p:cNvSpPr/>
          <p:nvPr/>
        </p:nvSpPr>
        <p:spPr>
          <a:xfrm>
            <a:off x="8325917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66090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5917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 colunar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25917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Parquet/ORC leem só as colunas usadas e comprimem muito melhor que CSV.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85800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5800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6" name="Shape 21"/>
          <p:cNvSpPr/>
          <p:nvPr/>
        </p:nvSpPr>
        <p:spPr>
          <a:xfrm>
            <a:off x="941832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777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1832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Predicate pushdown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941832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 projeção descem até o arquivo, reduzindo dados lidos.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377842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377842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2" name="Shape 26"/>
          <p:cNvSpPr/>
          <p:nvPr/>
        </p:nvSpPr>
        <p:spPr>
          <a:xfrm>
            <a:off x="4633874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034" y="477774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633874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Compressão</a:t>
            </a:r>
            <a:endParaRPr lang="en-US" sz="1550" dirty="0"/>
          </a:p>
        </p:txBody>
      </p:sp>
      <p:sp>
        <p:nvSpPr>
          <p:cNvPr id="35" name="Text 28"/>
          <p:cNvSpPr/>
          <p:nvPr/>
        </p:nvSpPr>
        <p:spPr>
          <a:xfrm>
            <a:off x="4633874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Snappy, ZSTD — menos bytes lidos do disco/S3, menos custo.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8069885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069885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8" name="Shape 31"/>
          <p:cNvSpPr/>
          <p:nvPr/>
        </p:nvSpPr>
        <p:spPr>
          <a:xfrm>
            <a:off x="8325917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077" y="4777740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25917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Estatísticas</a:t>
            </a:r>
            <a:endParaRPr lang="en-US" sz="1550" dirty="0"/>
          </a:p>
        </p:txBody>
      </p:sp>
      <p:sp>
        <p:nvSpPr>
          <p:cNvPr id="41" name="Text 33"/>
          <p:cNvSpPr/>
          <p:nvPr/>
        </p:nvSpPr>
        <p:spPr>
          <a:xfrm>
            <a:off x="8325917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de min/max por bloco permitem pular dados inteiros.</a:t>
            </a:r>
            <a:endParaRPr lang="en-US" sz="1250" dirty="0"/>
          </a:p>
        </p:txBody>
      </p:sp>
      <p:pic>
        <p:nvPicPr>
          <p:cNvPr id="42" name="Image 6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Big SQL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PANORAMA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engines de Big SQL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82009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48737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(MR/Tez/Spark)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pesado e transformações em lote no lake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unificado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 que misturam SQL, código e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Presto / Trino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MPP interativo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ad-hoc rápidas, federando várias fontes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MPP (Cloudera)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de baixa latência sobre HDFS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Athena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(Trino)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sob demanda no S3, sem cluster para gerir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Redshift Spectrum / BigQuery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+ lake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gerenciado em nuvem, escala elástica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SQL, decisões diferentes: latência, custo, elasticidade e quem administra o cluster.</a:t>
            </a:r>
            <a:endParaRPr lang="en-US" sz="1100" dirty="0"/>
          </a:p>
        </p:txBody>
      </p:sp>
      <p:pic>
        <p:nvPicPr>
          <p:cNvPr id="7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Big SQL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NUVEM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Serverless: Athena + Glue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Metastore gerenciado da AWS — compatível com Hive.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Crawler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 o S3 e infere schema e partições automaticamente.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Trino serverless: você paga por dado varrido, sem cluster.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mercado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 data lake em minutos, sem infraestrutura para operar.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74520"/>
            <a:ext cx="5148072" cy="4160520"/>
          </a:xfrm>
          <a:prstGeom prst="rect">
            <a:avLst/>
          </a:prstGeom>
          <a:solidFill>
            <a:srgbClr val="0A0942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874520"/>
            <a:ext cx="5148072" cy="384048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8" name="Shape 6"/>
          <p:cNvSpPr/>
          <p:nvPr/>
        </p:nvSpPr>
        <p:spPr>
          <a:xfrm>
            <a:off x="6556248" y="20116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20116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0116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8745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Athena (SQL no S3)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690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catálogo criado pelo Glue Crawler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MSCK REPAIR TABLE vendas;   -- carrega partições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categoria,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     AS pedidos,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SUM(valor)    AS receita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vendas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dt = DATE '2026-07-16'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 BY categoria;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 ∝ bytes varridos → particione + Parquet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610819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o fluxo do Tutorial 1 na AWS.</a:t>
            </a:r>
            <a:endParaRPr lang="en-US" sz="1050" dirty="0"/>
          </a:p>
        </p:txBody>
      </p:sp>
      <p:pic>
        <p:nvPicPr>
          <p:cNvPr id="1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Big SQL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PRÁTICO 1 (PARTE SQL)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Hive na EMR &amp; Athena/Glue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de Big SQL do Tutorial 1 (1/4 da nota) exercita consultas distribuídas na nuvem.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EMR com Hive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tabelas HiveQL e rodar consultas de agregação sobre dados no S3.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Catalogar os dados com um crawler e reaproveitar o schema.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o mesmo dado de forma serverless e comparar a experiência.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o efeito de particionamento e Parquet no volume varrido.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EMR + Hive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HiveQL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(catálogo + crawler)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(Parquet)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Big SQL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APROFUNDAR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Leituras da aula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 &amp; MATERIAL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WHITE, T.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Hadoop: The Definitive Guide (cap. Hive).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4. ed. O’Reilly, 2015.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GORELIK, A.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Big Data Lake.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2019.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SARKAR, A.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Spark SQL.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Packt, 2017.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&amp; DOCUMENTAÇÃO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THUSOO, A.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Hive: A Warehousing Solution over MapReduce.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VLDB, 2009.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APACHE. 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/ Trino — documentação oficial.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AWS. 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&amp; Glue Developer Guides.</a:t>
            </a:r>
            <a:endParaRPr lang="en-US" sz="1150" dirty="0"/>
          </a:p>
        </p:txBody>
      </p:sp>
      <p:pic>
        <p:nvPicPr>
          <p:cNvPr id="13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Big SQL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</p:sp>
      <p:pic>
        <p:nvPicPr>
          <p:cNvPr id="4" name="Image 0" descr="/private/tmp/claude-501/-Users-leandroimail-Documents-Big-Data/46548dac-03f9-4350-9127-15038cd5013e/scratchpad/deck-build/assets/brasao-white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321040" y="914400"/>
            <a:ext cx="40233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148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Próxima: Spark &amp; Lakehouse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3886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SQL resolveu a linguagem, mas o motor em disco ainda era lento.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próxima aula traz o processamento em memória e as tabelas transacionais.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544068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leandro.mferreira@usp.br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PECE Poli-USP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Leandro Mendes Ferreira</dc:creator>
  <cp:lastModifiedBy>Leandro Mendes Ferreira</cp:lastModifiedBy>
  <cp:revision>1</cp:revision>
  <dcterms:created xsi:type="dcterms:W3CDTF">2026-07-16T15:21:16Z</dcterms:created>
  <dcterms:modified xsi:type="dcterms:W3CDTF">2026-07-16T15:21:16Z</dcterms:modified>
</cp:coreProperties>
</file>
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532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/private/tmp/claude-501/-Users-leandroimail-Documents-Big-Data/46548dac-03f9-4350-9127-15038cd5013e/scratchpad/deck-build/assets/brasao-white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7635240" y="502920"/>
            <a:ext cx="4846320" cy="5513832"/>
          </a:xfrm>
          <a:prstGeom prst="rect">
            <a:avLst/>
          </a:prstGeom>
        </p:spPr>
      </p:pic>
      <p:pic>
        <p:nvPicPr>
          <p:cNvPr id="5" name="Image 1" descr="/private/tmp/claude-501/-Users-leandroimail-Documents-Big-Data/46548dac-03f9-4350-9127-15038cd5013e/scratchpad/deck-build/assets/wordmark-poliu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66928"/>
            <a:ext cx="2286000" cy="4096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11556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Educação Continuada em Engenharia  ·  Escola Politécnica da USP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685800" y="2121408"/>
            <a:ext cx="2926080" cy="402336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685800" y="212140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EEDB-006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85800" y="26974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Ecossistema de</a:t>
            </a:r>
            <a:endParaRPr lang="en-US" sz="46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Data</a:t>
            </a:r>
            <a:endParaRPr lang="en-US" sz="4600" dirty="0"/>
          </a:p>
        </p:txBody>
      </p:sp>
      <p:sp>
        <p:nvSpPr>
          <p:cNvPr id="10" name="Text 6"/>
          <p:cNvSpPr/>
          <p:nvPr/>
        </p:nvSpPr>
        <p:spPr>
          <a:xfrm>
            <a:off x="685800" y="45262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fundamentos do Hadoop ao streaming de dados em tempo real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85800" y="5440680"/>
            <a:ext cx="6949440" cy="0"/>
          </a:xfrm>
          <a:prstGeom prst="line">
            <a:avLst/>
          </a:prstGeom>
          <a:noFill/>
          <a:ln w="12700">
            <a:solidFill>
              <a:srgbClr val="2321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685800" y="5559552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 Engenharia de Dados e Big Data  ·  EAD síncrono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horária: 27h  ·  Teoria + 4 tutoriais práticos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Leandro Mendes Ferreira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579815" y="6263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· Escola Politécnica · USP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4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private/tmp/claude-501/-Users-leandroimail-Documents-Big-Data/46548dac-03f9-4350-9127-15038cd5013e/scratchpad/deck-build/assets/circular-white.png"/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9418320" y="4480560"/>
            <a:ext cx="237744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4572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2321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5" name="Text 2"/>
          <p:cNvSpPr/>
          <p:nvPr/>
        </p:nvSpPr>
        <p:spPr>
          <a:xfrm>
            <a:off x="68580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ESTE CURSO IMPORTA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233172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world’s most valuable resource is no longer oil, but data.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85800" y="5074920"/>
            <a:ext cx="457200" cy="73152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8580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Economist, 2017 — a economia movida a dados exige uma nova engenharia.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Sobre a disciplina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visão de engenharia sobre como armazenar, processar e movimentar dados em escala — dos conceitos às ferramentas usadas no mercado.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6903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distribuídos</a:t>
            </a:r>
            <a:endParaRPr lang="en-US" sz="1550" dirty="0"/>
          </a:p>
          <a:p>
            <a:pPr marL="0" lvl="1" indent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HDFS, MapReduce e o ecossistema Hadoop como base histórica e conceitual.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SQL ao Lakehouse</a:t>
            </a:r>
            <a:endParaRPr lang="en-US" sz="1550" dirty="0"/>
          </a:p>
          <a:p>
            <a:pPr marL="0" lvl="1" indent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e Big SQL, Apache Spark e as tabelas transacionais (Iceberg / Delta).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de dados</a:t>
            </a:r>
            <a:endParaRPr lang="en-US" sz="1550" dirty="0"/>
          </a:p>
          <a:p>
            <a:pPr marL="0" lvl="1" indent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em lote/CDC e processamento de streaming de eventos em tempo real.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</a:t>
            </a:r>
            <a:endParaRPr lang="en-US" sz="1550" dirty="0"/>
          </a:p>
          <a:p>
            <a:pPr marL="0" lvl="1" indent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tema teórico é fixado por um tutorial prático — local (Docker) e na nuvem (AWS).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55280" y="1874520"/>
            <a:ext cx="3547872" cy="4160520"/>
          </a:xfrm>
          <a:prstGeom prst="rect">
            <a:avLst/>
          </a:prstGeom>
          <a:solidFill>
            <a:srgbClr val="12107E"/>
          </a:solidFill>
          <a:ln/>
          <a:effectLst>
            <a:outerShdw blurRad="127000" dist="38100" dir="5400000" algn="bl" rotWithShape="0">
              <a:srgbClr val="0A094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955280" y="1874520"/>
            <a:ext cx="3547872" cy="109728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NÚMEROS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265176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horas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aulas teóricas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tutoriais práticos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em grupos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0–10</a:t>
            </a:r>
            <a:endParaRPr lang="en-US" sz="1300" dirty="0"/>
          </a:p>
        </p:txBody>
      </p:sp>
      <p:pic>
        <p:nvPicPr>
          <p:cNvPr id="11" name="Image 0" descr="/private/tmp/claude-501/-Users-leandroimail-Documents-Big-Data/46548dac-03f9-4350-9127-15038cd5013e/scratchpad/deck-build/assets/circular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96696" y="548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CONDUZ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professor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977640" cy="4069080"/>
          </a:xfrm>
          <a:prstGeom prst="rect">
            <a:avLst/>
          </a:prstGeom>
          <a:solidFill>
            <a:srgbClr val="12107E"/>
          </a:solidFill>
          <a:ln/>
          <a:effectLst>
            <a:outerShdw blurRad="127000" dist="38100" dir="5400000" algn="bl" rotWithShape="0">
              <a:srgbClr val="0A0942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3977640" cy="109728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/private/tmp/claude-501/-Users-leandroimail-Documents-Big-Data/46548dac-03f9-4350-9127-15038cd5013e/scratchpad/deck-build/assets/circular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248" y="2331720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8404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Leandro Mendes</a:t>
            </a:r>
            <a:endParaRPr lang="en-US" sz="2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Ferreira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1440180" y="4892040"/>
            <a:ext cx="2468880" cy="384048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960120" y="48920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AI ENGINEER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60120" y="54406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leandro.mferreira@usp.br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92040" y="1965960"/>
            <a:ext cx="658368" cy="658368"/>
          </a:xfrm>
          <a:prstGeom prst="ellipse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213969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06440" y="194767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Formação acadêmica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806440" y="23317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em Engenharia de Computação e Doutorando em Engenharia de Computação.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892040" y="2990088"/>
            <a:ext cx="658368" cy="658368"/>
          </a:xfrm>
          <a:prstGeom prst="ellipse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776" y="316382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06440" y="2971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Pós-graduação (MBA)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806440" y="335584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em Business Intelligence e MBA em Produtos Financeiros.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892040" y="4014216"/>
            <a:ext cx="658368" cy="658368"/>
          </a:xfrm>
          <a:prstGeom prst="ellipse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776" y="418795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06440" y="399592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Graduação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806440" y="4379976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Dados — a base técnica de toda a trajetória.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892040" y="5038344"/>
            <a:ext cx="658368" cy="658368"/>
          </a:xfrm>
          <a:prstGeom prst="ellipse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5776" y="5212080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806440" y="502005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Atuação atual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5806440" y="5404104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AI Engineer — arquitetura de dados e IA aplicada em produção.</a:t>
            </a:r>
            <a:endParaRPr lang="en-US" sz="1300" dirty="0"/>
          </a:p>
        </p:txBody>
      </p:sp>
      <p:pic>
        <p:nvPicPr>
          <p:cNvPr id="28" name="Image 5" descr="/private/tmp/claude-501/-Users-leandroimail-Documents-Big-Data/46548dac-03f9-4350-9127-15038cd5013e/scratchpad/deck-build/assets/circular-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51560" y="64008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LEVAR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de aprendizagem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blurRad="88900" dist="25400" dir="5400000" algn="bl" rotWithShape="0">
              <a:srgbClr val="0A0942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941832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34086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Pensar distribuído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41832" y="3246120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partição, paralelismo e tolerância a falhas que sustentam o Big Data.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77842" y="1965960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blurRad="88900" dist="25400" dir="5400000" algn="bl" rotWithShape="0">
              <a:srgbClr val="0A0942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4377842" y="1965960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4633874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1034" y="234086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33874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Consultar em escala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633874" y="3246120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SQL sobre data lakes (Hive, Athena, Spark SQL) com eficiência.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69885" y="1965960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blurRad="88900" dist="25400" dir="5400000" algn="bl" rotWithShape="0">
              <a:srgbClr val="0A0942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8069885" y="1965960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8325917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077" y="2340864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5917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Arquitetar Lakehouse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325917" y="3246120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Spark + formatos transacionais (Iceberg/Delta) sobre object storage.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85800" y="4242816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blurRad="88900" dist="25400" dir="5400000" algn="bl" rotWithShape="0">
              <a:srgbClr val="0A0942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19"/>
          <p:cNvSpPr/>
          <p:nvPr/>
        </p:nvSpPr>
        <p:spPr>
          <a:xfrm>
            <a:off x="685800" y="4242816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0"/>
          <p:cNvSpPr/>
          <p:nvPr/>
        </p:nvSpPr>
        <p:spPr>
          <a:xfrm>
            <a:off x="941832" y="448056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461772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41832" y="511149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Ingerir dados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941832" y="5522976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dados de bancos e APIs para o lake, em lote e por eventos.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4377842" y="4242816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blurRad="88900" dist="25400" dir="5400000" algn="bl" rotWithShape="0">
              <a:srgbClr val="0A0942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4"/>
          <p:cNvSpPr/>
          <p:nvPr/>
        </p:nvSpPr>
        <p:spPr>
          <a:xfrm>
            <a:off x="4377842" y="4242816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5"/>
          <p:cNvSpPr/>
          <p:nvPr/>
        </p:nvSpPr>
        <p:spPr>
          <a:xfrm>
            <a:off x="4633874" y="448056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1034" y="4617720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633874" y="511149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Processar em tempo real</a:t>
            </a:r>
            <a:endParaRPr lang="en-US" sz="1550" dirty="0"/>
          </a:p>
        </p:txBody>
      </p:sp>
      <p:sp>
        <p:nvSpPr>
          <p:cNvPr id="34" name="Text 27"/>
          <p:cNvSpPr/>
          <p:nvPr/>
        </p:nvSpPr>
        <p:spPr>
          <a:xfrm>
            <a:off x="4633874" y="5522976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filas e streaming com Kafka, Spark Structured Streaming e Flink.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069885" y="4242816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blurRad="88900" dist="25400" dir="5400000" algn="bl" rotWithShape="0">
              <a:srgbClr val="0A0942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Shape 29"/>
          <p:cNvSpPr/>
          <p:nvPr/>
        </p:nvSpPr>
        <p:spPr>
          <a:xfrm>
            <a:off x="8069885" y="4242816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0"/>
          <p:cNvSpPr/>
          <p:nvPr/>
        </p:nvSpPr>
        <p:spPr>
          <a:xfrm>
            <a:off x="8325917" y="448056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3077" y="4617720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325917" y="511149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Operar na nuvem</a:t>
            </a:r>
            <a:endParaRPr lang="en-US" sz="1550" dirty="0"/>
          </a:p>
        </p:txBody>
      </p:sp>
      <p:sp>
        <p:nvSpPr>
          <p:cNvPr id="40" name="Text 32"/>
          <p:cNvSpPr/>
          <p:nvPr/>
        </p:nvSpPr>
        <p:spPr>
          <a:xfrm>
            <a:off x="8325917" y="5522976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Provisionar e rodar tudo na AWS (EMR, S3, SQS, Lambda) com IaC.</a:t>
            </a:r>
            <a:endParaRPr lang="en-US" sz="1250" dirty="0"/>
          </a:p>
        </p:txBody>
      </p:sp>
      <p:pic>
        <p:nvPicPr>
          <p:cNvPr id="41" name="Image 6" descr="/private/tmp/claude-501/-Users-leandroimail-Documents-Big-Data/46548dac-03f9-4350-9127-15038cd5013e/scratchpad/deck-build/assets/circular-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43" name="Text 34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DISCIPLINA FUNCIONA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Duas frentes que se complementam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parte teórica explica os conceitos; a parte prática fixa o aprendizado em tutoriais aplicados, entregues em grupo.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5282032" cy="3246120"/>
          </a:xfrm>
          <a:prstGeom prst="rect">
            <a:avLst/>
          </a:prstGeom>
          <a:solidFill>
            <a:srgbClr val="12107E"/>
          </a:solidFill>
          <a:ln w="12700">
            <a:solidFill>
              <a:srgbClr val="12107E"/>
            </a:solidFill>
            <a:prstDash val="solid"/>
          </a:ln>
          <a:effectLst>
            <a:outerShdw blurRad="88900" dist="25400" dir="5400000" algn="bl" rotWithShape="0">
              <a:srgbClr val="0A0942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91440" cy="3246120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41832" y="2523744"/>
            <a:ext cx="548640" cy="548640"/>
          </a:xfrm>
          <a:prstGeom prst="ellipse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66090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41832" y="3154680"/>
            <a:ext cx="482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Teoria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41832" y="3566160"/>
            <a:ext cx="480654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aulas expositivas: introdução, Big SQL, Spark &amp; Lakehouse, ingestão e streaming. Conceitos, arquitetura e o porquê das decisões.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23864" y="2286000"/>
            <a:ext cx="5282032" cy="3246120"/>
          </a:xfrm>
          <a:prstGeom prst="rect">
            <a:avLst/>
          </a:prstGeom>
          <a:solidFill>
            <a:srgbClr val="12107E"/>
          </a:solidFill>
          <a:ln w="12700">
            <a:solidFill>
              <a:srgbClr val="12107E"/>
            </a:solidFill>
            <a:prstDash val="solid"/>
          </a:ln>
          <a:effectLst>
            <a:outerShdw blurRad="88900" dist="25400" dir="5400000" algn="bl" rotWithShape="0">
              <a:srgbClr val="0A0942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6223864" y="2286000"/>
            <a:ext cx="91440" cy="3246120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6479896" y="2523744"/>
            <a:ext cx="548640" cy="548640"/>
          </a:xfrm>
          <a:prstGeom prst="ellipse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056" y="2660904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79896" y="3154680"/>
            <a:ext cx="482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Prática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6479896" y="3566160"/>
            <a:ext cx="480654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tutoriais guiados (local + AWS). Cada grupo executa, valida e entrega. É onde a teoria vira habilidade.</a:t>
            </a:r>
            <a:endParaRPr lang="en-US" sz="1250" dirty="0"/>
          </a:p>
        </p:txBody>
      </p:sp>
      <p:pic>
        <p:nvPicPr>
          <p:cNvPr id="18" name="Image 2" descr="/private/tmp/claude-501/-Users-leandroimail-Documents-Big-Data/46548dac-03f9-4350-9127-15038cd5013e/scratchpad/deck-build/assets/circular-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TEÓRICA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5 aulas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65960"/>
          <a:ext cx="10817352" cy="27432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9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Temas centrais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Introdução a Big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5 V’s, história, GFS/MapReduce, HDFS, ecossistema Hadoop, YARN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SQL — Hive e outros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SQL-on-Hadoop, Hive, metastore, particionamento, Athena/Presto, Glue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e Lakehouse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RDD, DataFrame, Spark SQL, Catalyst; Iceberg/Delta e o Lakehouse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Ingestão de Dados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Batch, CDC, ELT; conectores (Meltano, dlt); do banco/API ao data lake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de Dados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Eventos, filas x tópicos, Kafka, janelas, event-time; Spark/Flink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0350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introdução abre o curso; as demais aulas seguem a jornada natural do dado: armazenar → consultar → processar → mover → reagir.</a:t>
            </a:r>
            <a:endParaRPr lang="en-US" sz="1100" dirty="0"/>
          </a:p>
        </p:txBody>
      </p:sp>
      <p:pic>
        <p:nvPicPr>
          <p:cNvPr id="7" name="Image 0" descr="/private/tmp/claude-501/-Users-leandroimail-Documents-Big-Data/46548dac-03f9-4350-9127-15038cd5013e/scratchpad/deck-build/assets/circular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5" name="Text 4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PRÁTICA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4 tutoriais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Executados em grupo, local (Docker) e na nuvem (AWS Academy). Cada tutorial vale 1/4 da nota.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5282032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blurRad="88900" dist="25400" dir="5400000" algn="bl" rotWithShape="0">
              <a:srgbClr val="0A0942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41832" y="252374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66090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41832" y="3154680"/>
            <a:ext cx="482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Hadoop, Hive &amp; Ambiente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41832" y="3566160"/>
            <a:ext cx="4806544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o ambiente, HDFS + MapReduce (WordCount em Java) no Docker; EMR + Hive + Athena/Glue na AWS.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23864" y="2286000"/>
            <a:ext cx="5282032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blurRad="88900" dist="25400" dir="5400000" algn="bl" rotWithShape="0">
              <a:srgbClr val="0A0942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6223864" y="2286000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6479896" y="252374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056" y="2660904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79896" y="3154680"/>
            <a:ext cx="482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Spark &amp; Lakehouse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6479896" y="3566160"/>
            <a:ext cx="4806544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Spark (local/Docker/Jupyter), RDD e DataFrame em PySpark, tabelas Iceberg.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" y="4402836"/>
            <a:ext cx="5282032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blurRad="88900" dist="25400" dir="5400000" algn="bl" rotWithShape="0">
              <a:srgbClr val="0A0942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685800" y="4402836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6"/>
          <p:cNvSpPr/>
          <p:nvPr/>
        </p:nvSpPr>
        <p:spPr>
          <a:xfrm>
            <a:off x="941832" y="464058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477774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41832" y="5271516"/>
            <a:ext cx="482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Ingestão de Dados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941832" y="5682996"/>
            <a:ext cx="4806544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Meltano e dlt levando PostgreSQL e uma API REST para o data lake em Parquet.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223864" y="4402836"/>
            <a:ext cx="5282032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blurRad="88900" dist="25400" dir="5400000" algn="bl" rotWithShape="0">
              <a:srgbClr val="0A0942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0"/>
          <p:cNvSpPr/>
          <p:nvPr/>
        </p:nvSpPr>
        <p:spPr>
          <a:xfrm>
            <a:off x="6223864" y="4402836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1"/>
          <p:cNvSpPr/>
          <p:nvPr/>
        </p:nvSpPr>
        <p:spPr>
          <a:xfrm>
            <a:off x="6479896" y="464058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7056" y="477774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79896" y="5271516"/>
            <a:ext cx="482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 de Dados</a:t>
            </a:r>
            <a:endParaRPr lang="en-US" sz="1550" dirty="0"/>
          </a:p>
        </p:txBody>
      </p:sp>
      <p:sp>
        <p:nvSpPr>
          <p:cNvPr id="29" name="Text 23"/>
          <p:cNvSpPr/>
          <p:nvPr/>
        </p:nvSpPr>
        <p:spPr>
          <a:xfrm>
            <a:off x="6479896" y="5682996"/>
            <a:ext cx="4806544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(RabbitMQ / SQS+Lambda) e janelas de 30s com Kafka + Spark e Kafka + Flink.</a:t>
            </a:r>
            <a:endParaRPr lang="en-US" sz="1250" dirty="0"/>
          </a:p>
        </p:txBody>
      </p:sp>
      <p:pic>
        <p:nvPicPr>
          <p:cNvPr id="30" name="Image 4" descr="/private/tmp/claude-501/-Users-leandroimail-Documents-Big-Data/46548dac-03f9-4350-9127-15038cd5013e/scratchpad/deck-build/assets/circular-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 CONDUTOR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jornada do dado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658082" y="2953512"/>
            <a:ext cx="8875532" cy="0"/>
          </a:xfrm>
          <a:prstGeom prst="line">
            <a:avLst/>
          </a:prstGeom>
          <a:noFill/>
          <a:ln w="38100">
            <a:solidFill>
              <a:srgbClr val="E8EA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356330" y="2651760"/>
            <a:ext cx="603504" cy="603504"/>
          </a:xfrm>
          <a:prstGeom prst="ellipse">
            <a:avLst/>
          </a:prstGeom>
          <a:solidFill>
            <a:srgbClr val="12107E"/>
          </a:solidFill>
          <a:ln/>
          <a:effectLst>
            <a:outerShdw blurRad="88900" dist="25400" dir="5400000" algn="bl" rotWithShape="0">
              <a:srgbClr val="0A0942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356330" y="2651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CF1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" y="3703320"/>
            <a:ext cx="1944563" cy="246888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85800" y="3703320"/>
            <a:ext cx="1944563" cy="82296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68680" y="3904488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Armazenar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8680" y="4617720"/>
            <a:ext cx="15788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arquivos distribuídos e object storage: HDFS, S3.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75213" y="2651760"/>
            <a:ext cx="603504" cy="603504"/>
          </a:xfrm>
          <a:prstGeom prst="ellipse">
            <a:avLst/>
          </a:prstGeom>
          <a:solidFill>
            <a:srgbClr val="12107E"/>
          </a:solidFill>
          <a:ln/>
          <a:effectLst>
            <a:outerShdw blurRad="88900" dist="25400" dir="5400000" algn="bl" rotWithShape="0">
              <a:srgbClr val="0A0942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575213" y="2651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CF1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904683" y="3703320"/>
            <a:ext cx="1944563" cy="246888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2904683" y="3703320"/>
            <a:ext cx="1944563" cy="82296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087563" y="3904488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087563" y="4617720"/>
            <a:ext cx="15788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sobre grandes volumes: Hive, Athena, Spark SQL.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94096" y="2651760"/>
            <a:ext cx="603504" cy="603504"/>
          </a:xfrm>
          <a:prstGeom prst="ellipse">
            <a:avLst/>
          </a:prstGeom>
          <a:solidFill>
            <a:srgbClr val="12107E"/>
          </a:solidFill>
          <a:ln/>
          <a:effectLst>
            <a:outerShdw blurRad="88900" dist="25400" dir="5400000" algn="bl" rotWithShape="0">
              <a:srgbClr val="0A0942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794096" y="2651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CF1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123566" y="3703320"/>
            <a:ext cx="1944563" cy="246888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123566" y="3703320"/>
            <a:ext cx="1944563" cy="82296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306446" y="3904488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Processar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306446" y="4617720"/>
            <a:ext cx="15788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 distribuídas e Lakehouse: Spark, Iceberg/Delta.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12979" y="2651760"/>
            <a:ext cx="603504" cy="603504"/>
          </a:xfrm>
          <a:prstGeom prst="ellipse">
            <a:avLst/>
          </a:prstGeom>
          <a:solidFill>
            <a:srgbClr val="12107E"/>
          </a:solidFill>
          <a:ln/>
          <a:effectLst>
            <a:outerShdw blurRad="88900" dist="25400" dir="5400000" algn="bl" rotWithShape="0">
              <a:srgbClr val="0A0942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012979" y="2651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CF1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342449" y="3703320"/>
            <a:ext cx="1944563" cy="246888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7342449" y="3703320"/>
            <a:ext cx="1944563" cy="82296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525329" y="3904488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Mover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525329" y="4617720"/>
            <a:ext cx="15788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de bancos e APIs para o lake: batch, CDC, ELT.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231862" y="2651760"/>
            <a:ext cx="603504" cy="603504"/>
          </a:xfrm>
          <a:prstGeom prst="ellipse">
            <a:avLst/>
          </a:prstGeom>
          <a:solidFill>
            <a:srgbClr val="12107E"/>
          </a:solidFill>
          <a:ln/>
          <a:effectLst>
            <a:outerShdw blurRad="88900" dist="25400" dir="5400000" algn="bl" rotWithShape="0">
              <a:srgbClr val="0A0942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0231862" y="2651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CF1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561332" y="3703320"/>
            <a:ext cx="1944563" cy="246888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9561332" y="3703320"/>
            <a:ext cx="1944563" cy="82296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9744212" y="3904488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Reagir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744212" y="4617720"/>
            <a:ext cx="15788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em tempo real: Kafka, streaming, janelas.</a:t>
            </a:r>
            <a:endParaRPr lang="en-US" sz="1200" dirty="0"/>
          </a:p>
        </p:txBody>
      </p:sp>
      <p:pic>
        <p:nvPicPr>
          <p:cNvPr id="36" name="Image 0" descr="/private/tmp/claude-501/-Users-leandroimail-Documents-Big-Data/46548dac-03f9-4350-9127-15038cd5013e/scratchpad/deck-build/assets/circular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0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private/tmp/claude-501/-Users-leandroimail-Documents-Big-Data/46548dac-03f9-4350-9127-15038cd5013e/scratchpad/deck-build/assets/brasao-white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9326880" y="4023360"/>
            <a:ext cx="2468880" cy="28072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" y="640080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996696" y="62179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É AVALIADO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10515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Avaliação: a soma dos 4 tutoriais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85800" y="2423160"/>
            <a:ext cx="24992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CF1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6000" dirty="0"/>
          </a:p>
        </p:txBody>
      </p:sp>
      <p:sp>
        <p:nvSpPr>
          <p:cNvPr id="8" name="Shape 5"/>
          <p:cNvSpPr/>
          <p:nvPr/>
        </p:nvSpPr>
        <p:spPr>
          <a:xfrm>
            <a:off x="704088" y="3657600"/>
            <a:ext cx="457200" cy="73152"/>
          </a:xfrm>
          <a:prstGeom prst="rect">
            <a:avLst/>
          </a:prstGeom>
          <a:solidFill>
            <a:srgbClr val="23219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685800" y="3794760"/>
            <a:ext cx="24078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tutoriais entregues em grupo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459404" y="2423160"/>
            <a:ext cx="24992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CF1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¼</a:t>
            </a:r>
            <a:endParaRPr lang="en-US" sz="6000" dirty="0"/>
          </a:p>
        </p:txBody>
      </p:sp>
      <p:sp>
        <p:nvSpPr>
          <p:cNvPr id="11" name="Shape 8"/>
          <p:cNvSpPr/>
          <p:nvPr/>
        </p:nvSpPr>
        <p:spPr>
          <a:xfrm>
            <a:off x="3477692" y="3657600"/>
            <a:ext cx="457200" cy="73152"/>
          </a:xfrm>
          <a:prstGeom prst="rect">
            <a:avLst/>
          </a:prstGeom>
          <a:solidFill>
            <a:srgbClr val="23219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3459404" y="3794760"/>
            <a:ext cx="24078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de cada tutorial na nota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233008" y="2423160"/>
            <a:ext cx="24992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CF1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0–10</a:t>
            </a:r>
            <a:endParaRPr lang="en-US" sz="6000" dirty="0"/>
          </a:p>
        </p:txBody>
      </p:sp>
      <p:sp>
        <p:nvSpPr>
          <p:cNvPr id="14" name="Shape 11"/>
          <p:cNvSpPr/>
          <p:nvPr/>
        </p:nvSpPr>
        <p:spPr>
          <a:xfrm>
            <a:off x="6251296" y="3657600"/>
            <a:ext cx="457200" cy="73152"/>
          </a:xfrm>
          <a:prstGeom prst="rect">
            <a:avLst/>
          </a:prstGeom>
          <a:solidFill>
            <a:srgbClr val="23219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33008" y="3794760"/>
            <a:ext cx="24078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da nota final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006611" y="2423160"/>
            <a:ext cx="24992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CF1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6000" dirty="0"/>
          </a:p>
        </p:txBody>
      </p:sp>
      <p:sp>
        <p:nvSpPr>
          <p:cNvPr id="17" name="Shape 14"/>
          <p:cNvSpPr/>
          <p:nvPr/>
        </p:nvSpPr>
        <p:spPr>
          <a:xfrm>
            <a:off x="9024899" y="3657600"/>
            <a:ext cx="457200" cy="73152"/>
          </a:xfrm>
          <a:prstGeom prst="rect">
            <a:avLst/>
          </a:prstGeom>
          <a:solidFill>
            <a:srgbClr val="23219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9006611" y="3794760"/>
            <a:ext cx="24078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— teoria dá o alicerce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580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final = média dos 4 tutoriais (pesos iguais de 1/4). A entrega em grupo simula o trabalho real de um time de engenharia de dados.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Cronograma sugerido (27h)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484722"/>
              </p:ext>
            </p:extLst>
          </p:nvPr>
        </p:nvGraphicFramePr>
        <p:xfrm>
          <a:off x="685800" y="1965960"/>
          <a:ext cx="11091672" cy="27432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 teórica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Tutorial associado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Introdução a Big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Hadoop, Hive &amp; Ambiente de Big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SQL — Hive e outros SQLs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(consolidado no tutorial 1 — Hive/Athena)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-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e Lakehouse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&amp; Lakehouse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Ingestão de Dados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Ingestão de Dados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de Dados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de Dados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0350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indicativa das 27h entre exposição teórica e execução dos tutoriais; ajustável ao ritmo da turma.</a:t>
            </a:r>
            <a:endParaRPr lang="en-US" sz="1100" dirty="0"/>
          </a:p>
        </p:txBody>
      </p:sp>
      <p:pic>
        <p:nvPicPr>
          <p:cNvPr id="7" name="Image 0" descr="/private/tmp/claude-501/-Users-leandroimail-Documents-Big-Data/46548dac-03f9-4350-9127-15038cd5013e/scratchpad/deck-build/assets/circular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DO CURSO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Ferramentas &amp; ambiente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blurRad="88900" dist="25400" dir="5400000" algn="bl" rotWithShape="0">
              <a:srgbClr val="0A0942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941832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34086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41832" y="3246120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locais reproduzíveis: Hadoop, Spark, Kafka, RabbitMQ, Flink.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77842" y="1965960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blurRad="88900" dist="25400" dir="5400000" algn="bl" rotWithShape="0">
              <a:srgbClr val="0A0942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4377842" y="1965960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4633874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1034" y="234086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33874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Academy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633874" y="3246120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EMR, S3, RDS, SQS, Lambda no Learner Lab — provisionados via Terraform.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69885" y="1965960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blurRad="88900" dist="25400" dir="5400000" algn="bl" rotWithShape="0">
              <a:srgbClr val="0A0942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8069885" y="1965960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8325917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077" y="2340864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5917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/ PySpark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325917" y="3246120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Linguagem-base dos tutoriais de Spark, ingestão e producers de streaming.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85800" y="4242816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blurRad="88900" dist="25400" dir="5400000" algn="bl" rotWithShape="0">
              <a:srgbClr val="0A0942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19"/>
          <p:cNvSpPr/>
          <p:nvPr/>
        </p:nvSpPr>
        <p:spPr>
          <a:xfrm>
            <a:off x="685800" y="4242816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0"/>
          <p:cNvSpPr/>
          <p:nvPr/>
        </p:nvSpPr>
        <p:spPr>
          <a:xfrm>
            <a:off x="941832" y="448056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461772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41832" y="511149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941832" y="5522976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Hive, Athena, Spark SQL e Flink SQL — a lingua franca do dado.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4377842" y="4242816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blurRad="88900" dist="25400" dir="5400000" algn="bl" rotWithShape="0">
              <a:srgbClr val="0A0942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4"/>
          <p:cNvSpPr/>
          <p:nvPr/>
        </p:nvSpPr>
        <p:spPr>
          <a:xfrm>
            <a:off x="4377842" y="4242816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5"/>
          <p:cNvSpPr/>
          <p:nvPr/>
        </p:nvSpPr>
        <p:spPr>
          <a:xfrm>
            <a:off x="4633874" y="448056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1034" y="4617720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633874" y="511149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Iceberg / Parquet</a:t>
            </a:r>
            <a:endParaRPr lang="en-US" sz="1550" dirty="0"/>
          </a:p>
        </p:txBody>
      </p:sp>
      <p:sp>
        <p:nvSpPr>
          <p:cNvPr id="34" name="Text 27"/>
          <p:cNvSpPr/>
          <p:nvPr/>
        </p:nvSpPr>
        <p:spPr>
          <a:xfrm>
            <a:off x="4633874" y="5522976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abertos e transacionais que sustentam o Lakehouse.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069885" y="4242816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blurRad="88900" dist="25400" dir="5400000" algn="bl" rotWithShape="0">
              <a:srgbClr val="0A0942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Shape 29"/>
          <p:cNvSpPr/>
          <p:nvPr/>
        </p:nvSpPr>
        <p:spPr>
          <a:xfrm>
            <a:off x="8069885" y="4242816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0"/>
          <p:cNvSpPr/>
          <p:nvPr/>
        </p:nvSpPr>
        <p:spPr>
          <a:xfrm>
            <a:off x="8325917" y="448056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3077" y="4617720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325917" y="511149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Meltano / dlt</a:t>
            </a:r>
            <a:endParaRPr lang="en-US" sz="1550" dirty="0"/>
          </a:p>
        </p:txBody>
      </p:sp>
      <p:sp>
        <p:nvSpPr>
          <p:cNvPr id="40" name="Text 32"/>
          <p:cNvSpPr/>
          <p:nvPr/>
        </p:nvSpPr>
        <p:spPr>
          <a:xfrm>
            <a:off x="8325917" y="5522976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de ingestão declarativa de dados para o lake.</a:t>
            </a:r>
            <a:endParaRPr lang="en-US" sz="1250" dirty="0"/>
          </a:p>
        </p:txBody>
      </p:sp>
      <p:pic>
        <p:nvPicPr>
          <p:cNvPr id="41" name="Image 6" descr="/private/tmp/claude-501/-Users-leandroimail-Documents-Big-Data/46548dac-03f9-4350-9127-15038cd5013e/scratchpad/deck-build/assets/circular-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43" name="Text 34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Bibliografia — padrão (básica)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5257800" cy="457200"/>
          </a:xfrm>
          <a:prstGeom prst="rect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91440" cy="457200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&amp; PROCESSAMENTO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542032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WHITE, T. </a:t>
            </a: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Hadoop: The Definitive Guide.</a:t>
            </a: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4. ed. O’Reilly, 2015.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CHAMBERS, B.; ZAHARIA, M. </a:t>
            </a: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Spark: The Definitive Guide.</a:t>
            </a: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O’Reilly, 2018.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GORELIK, A. </a:t>
            </a: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Big Data Lake.</a:t>
            </a: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O’Reilly, 2019.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REIS, J.; HOUSLEY, M. </a:t>
            </a: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 Engineering.</a:t>
            </a: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O’Reilly, 2022.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57800" cy="457200"/>
          </a:xfrm>
          <a:prstGeom prst="rect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355080" y="1920240"/>
            <a:ext cx="91440" cy="457200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&amp; STREAMING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2542032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KLEPPMANN, M. </a:t>
            </a: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Data-Intensive Applications.</a:t>
            </a: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O’Reilly, 2017.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SHAPIRA, G. et al. </a:t>
            </a: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Kafka: The Definitive Guide.</a:t>
            </a: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2. ed. O’Reilly, 2021.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AKIDAU, T. et al. </a:t>
            </a: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Systems.</a:t>
            </a: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O’Reilly, 2018.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SHIRAN, T.; HUGHES, J.; MERCED, A. </a:t>
            </a: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Iceberg: The Definitive Guide.</a:t>
            </a: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O’Reilly, 2024.</a:t>
            </a:r>
            <a:endParaRPr lang="en-US" sz="1150" dirty="0"/>
          </a:p>
        </p:txBody>
      </p:sp>
      <p:pic>
        <p:nvPicPr>
          <p:cNvPr id="13" name="Image 0" descr="/private/tmp/claude-501/-Users-leandroimail-Documents-Big-Data/46548dac-03f9-4350-9127-15038cd5013e/scratchpad/deck-build/assets/circular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Bibliografia — estendida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5257800" cy="457200"/>
          </a:xfrm>
          <a:prstGeom prst="rect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91440" cy="457200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ARTIGOS FUNDADORES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542032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GHEMAWAT, S. et al. </a:t>
            </a: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Google File System.</a:t>
            </a: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SOSP, 2003.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DEAN, J.; GHEMAWAT, S. </a:t>
            </a: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MapReduce: Simplified Data Processing.</a:t>
            </a: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OSDI, 2004.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CHANG, F. et al. </a:t>
            </a: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Bigtable: A Distributed Storage System.</a:t>
            </a: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OSDI, 2006.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THUSOO, A. et al. </a:t>
            </a: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Hive: A Warehousing Solution over MapReduce.</a:t>
            </a: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VLDB, 2009.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SHVACHKO, K. et al. </a:t>
            </a: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Hadoop Distributed File System.</a:t>
            </a: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MSST, 2010.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KREPS, J. et al. </a:t>
            </a: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Kafka: A Distributed Messaging System.</a:t>
            </a: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NetDB, 2011.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57800" cy="457200"/>
          </a:xfrm>
          <a:prstGeom prst="rect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355080" y="1920240"/>
            <a:ext cx="91440" cy="457200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 &amp; CLÁSSICOS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2542032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STOPFORD, B. </a:t>
            </a: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Event-Driven Systems.</a:t>
            </a: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O’Reilly, 2018.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ROY, G. </a:t>
            </a: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in Depth.</a:t>
            </a: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Manning, 2017.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SARKAR, A. </a:t>
            </a: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Spark SQL.</a:t>
            </a: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Packt, 2017.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LEE, D. et al. </a:t>
            </a: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Lake: The Definitive Guide.</a:t>
            </a: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O’Reilly, 2024.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DAVENPORT, T.; PATIL, D. </a:t>
            </a: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Scientist: The Sexiest Job of the 21st Century.</a:t>
            </a: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HBR, 2012.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ECONOMIST. </a:t>
            </a: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world’s most valuable resource is data.</a:t>
            </a: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2017.</a:t>
            </a:r>
            <a:endParaRPr lang="en-US" sz="1150" dirty="0"/>
          </a:p>
        </p:txBody>
      </p:sp>
      <p:pic>
        <p:nvPicPr>
          <p:cNvPr id="13" name="Image 0" descr="/private/tmp/claude-501/-Users-leandroimail-Documents-Big-Data/46548dac-03f9-4350-9127-15038cd5013e/scratchpad/deck-build/assets/circular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0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/private/tmp/claude-501/-Users-leandroimail-Documents-Big-Data/46548dac-03f9-4350-9127-15038cd5013e/scratchpad/deck-build/assets/brasao-white.png"/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8321040" y="914400"/>
            <a:ext cx="402336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14884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Bons estudos!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85800" y="38862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o ambiente (Docker + credenciais AWS Academy) antes do primeiro tutorial.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 seu grupo e acompanhe os materiais no AlunoWeb / Moodle.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5440680"/>
            <a:ext cx="457200" cy="73152"/>
          </a:xfrm>
          <a:prstGeom prst="rect">
            <a:avLst/>
          </a:prstGeom>
          <a:solidFill>
            <a:srgbClr val="FCF10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85800" y="5577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Leandro Mendes Ferreira  ·  leandro.mferreira@usp.br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1603</Words>
  <Application>Microsoft Macintosh PowerPoint</Application>
  <PresentationFormat>Widescreen</PresentationFormat>
  <Paragraphs>246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PECE Poli-USP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Leandro Mendes Ferreira</dc:creator>
  <cp:lastModifiedBy>Leandro Mendes Ferreira</cp:lastModifiedBy>
  <cp:revision>2</cp:revision>
  <dcterms:created xsi:type="dcterms:W3CDTF">2026-07-16T15:21:15Z</dcterms:created>
  <dcterms:modified xsi:type="dcterms:W3CDTF">2026-07-16T15:56:09Z</dcterms:modified>
</cp:coreProperties>
</file>
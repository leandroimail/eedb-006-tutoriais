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CF101"/>
          </a:solidFill>
          <a:ln/>
        </p:spPr>
      </p:sp>
      <p:pic>
        <p:nvPicPr>
          <p:cNvPr id="4" name="Image 0" descr="/private/tmp/claude-501/-Users-leandroimail-Documents-Big-Data/46548dac-03f9-4350-9127-15038cd5013e/scratchpad/deck-build/assets/brasao-white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7635240" y="502920"/>
            <a:ext cx="4846320" cy="5513832"/>
          </a:xfrm>
          <a:prstGeom prst="rect">
            <a:avLst/>
          </a:prstGeom>
        </p:spPr>
      </p:pic>
      <p:pic>
        <p:nvPicPr>
          <p:cNvPr id="5" name="Image 1" descr="/private/tmp/claude-501/-Users-leandroimail-Documents-Big-Data/46548dac-03f9-4350-9127-15038cd5013e/scratchpad/deck-build/assets/wordmark-polius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2286000" cy="4096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1155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Educação Continuada em Engenharia  ·  Escola Politécnica da USP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685800" y="2121408"/>
            <a:ext cx="2926080" cy="402336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212140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85800" y="26974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de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 em Big Data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685800" y="4526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Eventos, filas, Kafka e janelas em tempo real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85800" y="5440680"/>
            <a:ext cx="6949440" cy="0"/>
          </a:xfrm>
          <a:prstGeom prst="line">
            <a:avLst/>
          </a:prstGeom>
          <a:noFill/>
          <a:ln w="12700">
            <a:solidFill>
              <a:srgbClr val="23219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555955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eEDB-006 · Ecossistema de Big Data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teórica · tempo real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Leandro Mendes Ferreira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579815" y="6263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· Poli-USP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42"/>
          </a:solidFill>
          <a:ln/>
        </p:spPr>
      </p:sp>
      <p:pic>
        <p:nvPicPr>
          <p:cNvPr id="3" name="Image 0" descr="/private/tmp/claude-501/-Users-leandroimail-Documents-Big-Data/46548dac-03f9-4350-9127-15038cd5013e/scratchpad/deck-build/assets/circular-white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9418320" y="448056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4572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2321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5" name="Text 2"/>
          <p:cNvSpPr/>
          <p:nvPr/>
        </p:nvSpPr>
        <p:spPr>
          <a:xfrm>
            <a:off x="68580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VIRADA DE CHAVE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mundo não acontece em lotes noturnos. Ele acontece agora — um evento de cada vez.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85800" y="5074920"/>
            <a:ext cx="457200" cy="73152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trata o dado como um fluxo contínuo, não como uma foto do passado.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408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× Streaming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41832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paradigmas para processar dados.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7842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77842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3" name="Shape 10"/>
          <p:cNvSpPr/>
          <p:nvPr/>
        </p:nvSpPr>
        <p:spPr>
          <a:xfrm>
            <a:off x="4633874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034" y="234086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33874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Eventos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633874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orientada a eventos e o desacoplamento.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69885" y="1965960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69885" y="1965960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9" name="Shape 15"/>
          <p:cNvSpPr/>
          <p:nvPr/>
        </p:nvSpPr>
        <p:spPr>
          <a:xfrm>
            <a:off x="8325917" y="220370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77" y="234086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5917" y="283464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Filas × Tópicos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25917" y="3246120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RabbitMQ/SQS versus o log distribuído do Kafka.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85800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5800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5" name="Shape 20"/>
          <p:cNvSpPr/>
          <p:nvPr/>
        </p:nvSpPr>
        <p:spPr>
          <a:xfrm>
            <a:off x="941832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61772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1832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Kafka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41832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Brokers, tópicos, partições, offsets e consumer groups.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377842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77842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1" name="Shape 25"/>
          <p:cNvSpPr/>
          <p:nvPr/>
        </p:nvSpPr>
        <p:spPr>
          <a:xfrm>
            <a:off x="4633874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034" y="461772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33874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 &amp; janelas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4633874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Event-time, watermark e janelas de agregação.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069885" y="4242816"/>
            <a:ext cx="3436010" cy="2020824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69885" y="4242816"/>
            <a:ext cx="91440" cy="2020824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7" name="Shape 30"/>
          <p:cNvSpPr/>
          <p:nvPr/>
        </p:nvSpPr>
        <p:spPr>
          <a:xfrm>
            <a:off x="8325917" y="4480560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077" y="461772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325917" y="5111496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Spark × Flink</a:t>
            </a:r>
            <a:endParaRPr lang="en-US" sz="1550" dirty="0"/>
          </a:p>
        </p:txBody>
      </p:sp>
      <p:sp>
        <p:nvSpPr>
          <p:cNvPr id="40" name="Text 32"/>
          <p:cNvSpPr/>
          <p:nvPr/>
        </p:nvSpPr>
        <p:spPr>
          <a:xfrm>
            <a:off x="8325917" y="5522976"/>
            <a:ext cx="296052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engines de processamento de stream.</a:t>
            </a:r>
            <a:endParaRPr lang="en-US" sz="1250" dirty="0"/>
          </a:p>
        </p:txBody>
      </p:sp>
      <p:pic>
        <p:nvPicPr>
          <p:cNvPr id="41" name="Image 6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Streaming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CONTRASTE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× Streaming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5282032" cy="3246120"/>
          </a:xfrm>
          <a:prstGeom prst="rect">
            <a:avLst/>
          </a:prstGeom>
          <a:solidFill>
            <a:srgbClr val="12107E"/>
          </a:solidFill>
          <a:ln w="12700">
            <a:solidFill>
              <a:srgbClr val="12107E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2203704"/>
            <a:ext cx="548640" cy="548640"/>
          </a:xfrm>
          <a:prstGeom prst="ellipse">
            <a:avLst/>
          </a:prstGeom>
          <a:solidFill>
            <a:srgbClr val="FCF10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34086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2834640"/>
            <a:ext cx="482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41832" y="3246120"/>
            <a:ext cx="480654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um conjunto finito e completo, em janelas agendadas. Alta vazão, latência de minutos a horas. Ideal para relatórios e cargas históricas.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23864" y="1965960"/>
            <a:ext cx="5282032" cy="3246120"/>
          </a:xfrm>
          <a:prstGeom prst="rect">
            <a:avLst/>
          </a:prstGeom>
          <a:solidFill>
            <a:srgbClr val="12107E"/>
          </a:solidFill>
          <a:ln w="12700">
            <a:solidFill>
              <a:srgbClr val="12107E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23864" y="196596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3" name="Shape 10"/>
          <p:cNvSpPr/>
          <p:nvPr/>
        </p:nvSpPr>
        <p:spPr>
          <a:xfrm>
            <a:off x="6479896" y="2203704"/>
            <a:ext cx="548640" cy="548640"/>
          </a:xfrm>
          <a:prstGeom prst="ellipse">
            <a:avLst/>
          </a:prstGeom>
          <a:solidFill>
            <a:srgbClr val="FCF10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056" y="234086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79896" y="2834640"/>
            <a:ext cx="482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479896" y="3246120"/>
            <a:ext cx="480654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um fluxo infinito, evento a evento (ou micro-lotes), com latência de segundos. Ideal para alertas, dashboards ao vivo e detecção de fraude.</a:t>
            </a:r>
            <a:endParaRPr lang="en-US" sz="1250" dirty="0"/>
          </a:p>
        </p:txBody>
      </p:sp>
      <p:pic>
        <p:nvPicPr>
          <p:cNvPr id="17" name="Image 2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Streaming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PARADIGMA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orientada a eventos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evento é um fato imutável que já aconteceu: “venda realizada”, “sensor leu 30°C”.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Produtores e consumidores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gera o evento não sabe (nem precisa saber) quem vai consumi-lo.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Desacoplamento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evoluem de forma independente; novos consumidores entram sem mexer no produtor.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no meio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peça de mensageria (fila/tópico) garante o trânsito confiável dos eventos.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Reatividade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reage no instante em que o fato ocorre, não horas depois.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independente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(buffer)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latência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casos sem retrabalho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 tempo real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Streaming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Filas × Tópicos (log)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65960"/>
          <a:ext cx="1082009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160520"/>
                <a:gridCol w="41879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 (RabbitMQ, SQS)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/ Tópico (Kafka)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consumida e removida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append-only, retido por tempo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Releitura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(some ao processar)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vários consumidores, no seu ritmo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Consumidores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Competem pela mensagem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grupo lê todo o fluxo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fila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partição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típico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Tarefas/trabalho distribuído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Streaming, event sourcing, integração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Tutorial 4 você usa ambos: filas (RabbitMQ/SQS) e o log do Kafka.</a:t>
            </a:r>
            <a:endParaRPr lang="en-US" sz="1100" dirty="0"/>
          </a:p>
        </p:txBody>
      </p:sp>
      <p:pic>
        <p:nvPicPr>
          <p:cNvPr id="7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Streaming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DE MERCADO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Kafka se organiza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&amp; cluster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que armazenam e servem os eventos (KRaft, sem ZooKeeper).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&amp; partição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tópico é dividido em partições — a unidade de paralelismo e ordem.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de cada evento na partição; o consumidor controla até onde leu.</a:t>
            </a:r>
            <a:endParaRPr lang="en-US" sz="1500" dirty="0"/>
          </a:p>
          <a:p>
            <a:pPr marL="203200" indent="-203200">
              <a:spcAft>
                <a:spcPts val="200"/>
              </a:spcAft>
              <a:buSzPct val="100000"/>
              <a:buChar char="•"/>
            </a:pPr>
            <a:r>
              <a:rPr lang="en-US" sz="150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</a:t>
            </a:r>
            <a:endParaRPr lang="en-US" sz="1500" dirty="0"/>
          </a:p>
          <a:p>
            <a:pPr lvl="1"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 de um grupo dividem as partições entre si e escalam.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874520"/>
            <a:ext cx="5148072" cy="4160520"/>
          </a:xfrm>
          <a:prstGeom prst="rect">
            <a:avLst/>
          </a:prstGeom>
          <a:solidFill>
            <a:srgbClr val="0A0942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55080" y="1874520"/>
            <a:ext cx="5148072" cy="384048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8" name="Shape 6"/>
          <p:cNvSpPr/>
          <p:nvPr/>
        </p:nvSpPr>
        <p:spPr>
          <a:xfrm>
            <a:off x="6556248" y="2011680"/>
            <a:ext cx="118872" cy="11887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6775704" y="2011680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6995160" y="2011680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18745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 — conceitos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1112" y="2395728"/>
            <a:ext cx="46908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produtor publica em um tópico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vendas   (3 partições)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P0: [e0][e1][e2][e3]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P1: [e0][e1][e2]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P2: [e0][e1]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^offset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consumer group "faturamento"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-&gt; reparte P0,P1,P2 entre instâncias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6108192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partições = mais paralelismo de consumo.</a:t>
            </a:r>
            <a:endParaRPr lang="en-US" sz="1050" dirty="0"/>
          </a:p>
        </p:txBody>
      </p:sp>
      <p:pic>
        <p:nvPicPr>
          <p:cNvPr id="14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Streaming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Semânticas de entrega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um evento pode ser processado? O trade-off entre perda e duplicação.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3436010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28600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66090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At-most-once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41832" y="3566160"/>
            <a:ext cx="296052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perder eventos, nunca duplica. Rápido, mas arriscado.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77842" y="2286000"/>
            <a:ext cx="3436010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77842" y="228600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4" name="Shape 11"/>
          <p:cNvSpPr/>
          <p:nvPr/>
        </p:nvSpPr>
        <p:spPr>
          <a:xfrm>
            <a:off x="4633874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034" y="26609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33874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At-least-once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633874" y="3566160"/>
            <a:ext cx="296052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perde, mas pode duplicar. O consumidor precisa ser idempotente.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69885" y="2286000"/>
            <a:ext cx="3436010" cy="3246120"/>
          </a:xfrm>
          <a:prstGeom prst="rect">
            <a:avLst/>
          </a:prstGeom>
          <a:solidFill>
            <a:srgbClr val="F3F4FB"/>
          </a:solidFill>
          <a:ln w="12700">
            <a:solidFill>
              <a:srgbClr val="DEE0EF"/>
            </a:solidFill>
            <a:prstDash val="solid"/>
          </a:ln>
          <a:effectLst>
            <a:outerShdw sx="100000" sy="100000" kx="0" ky="0" algn="bl" rotWithShape="0" blurRad="88900" dist="25400" dir="5400000">
              <a:srgbClr val="0A094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69885" y="2286000"/>
            <a:ext cx="91440" cy="32461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20" name="Shape 16"/>
          <p:cNvSpPr/>
          <p:nvPr/>
        </p:nvSpPr>
        <p:spPr>
          <a:xfrm>
            <a:off x="8325917" y="2523744"/>
            <a:ext cx="548640" cy="548640"/>
          </a:xfrm>
          <a:prstGeom prst="ellipse">
            <a:avLst/>
          </a:prstGeom>
          <a:solidFill>
            <a:srgbClr val="12107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077" y="2660904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5917" y="3154680"/>
            <a:ext cx="29788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Exactly-once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8325917" y="3566160"/>
            <a:ext cx="2960522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conta uma vez. Mais caro; exige suporte da engine (Kafka+Flink).</a:t>
            </a:r>
            <a:endParaRPr lang="en-US" sz="1250" dirty="0"/>
          </a:p>
        </p:txBody>
      </p:sp>
      <p:pic>
        <p:nvPicPr>
          <p:cNvPr id="24" name="Image 3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Streaming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DIFÍCIL (E CENTRAL)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 e janelas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streams infinitos, agregamos por janelas de tempo — e o tempo tem duas naturezas.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Event-time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fato ocorreu (carimbo no evento). É o tempo que interessa ao negócio.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Processing-time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engine viu o evento. Mais simples, porém sensível a atrasos.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de “já vi tudo até aqui”; tolera eventos atrasados sem travar.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janela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Tumbling (fixa), sliding (deslizante) e session (por inatividade).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TUTORIAL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tumbling de 30s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Agrupada por categoria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event-time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p/ atraso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idêntica Spark×Flink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Streaming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ENGINES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Spark Structured Streaming × Flink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65960"/>
          <a:ext cx="1082009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160520"/>
                <a:gridCol w="41879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Structured Streaming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Flink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0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Micro-batch (e modo contínuo)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nativo, evento a evento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Sub-segundo a segundos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Milissegundos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DataFrame / SQL unificado com batch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DataStream + Flink 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&amp; tempo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Watermark, janelas, stateful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robusto, exactly-once forte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210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brilha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já usa Spark; unificar batch+stream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puro, baixa latência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Tutorial 4, a mesma janela de 30s é implementada nas duas engines — para você comparar.</a:t>
            </a:r>
            <a:endParaRPr lang="en-US" sz="1100" dirty="0"/>
          </a:p>
        </p:txBody>
      </p:sp>
      <p:pic>
        <p:nvPicPr>
          <p:cNvPr id="7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Streaming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PRÁTICO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de Dados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quarto tutorial (1/4 da nota) processa um fluxo de eventos de venda de três formas.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6903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unitário/micro-lote com RabbitMQ (local) e SQS + Lambda (AWS).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Spark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event-time de 30s por categoria com Structured Streaming.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Flink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janela de 30s em Flink SQL — contrato de saída idêntico.</a:t>
            </a:r>
            <a:endParaRPr lang="en-US" sz="155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endParaRPr lang="en-US" sz="1550" dirty="0"/>
          </a:p>
          <a:p>
            <a:pPr lvl="1" indent="0" marL="0">
              <a:spcAft>
                <a:spcPts val="1100"/>
              </a:spcAft>
              <a:buNone/>
            </a:pPr>
            <a:r>
              <a:rPr lang="en-US" sz="13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um data lake S3 em Parquet (MiniStack local ou AWS).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55280" y="1874520"/>
            <a:ext cx="3547872" cy="4160520"/>
          </a:xfrm>
          <a:prstGeom prst="rect">
            <a:avLst/>
          </a:prstGeom>
          <a:solidFill>
            <a:srgbClr val="12107E"/>
          </a:solidFill>
          <a:ln/>
          <a:effectLst>
            <a:outerShdw sx="100000" sy="100000" kx="0" ky="0" algn="bl" rotWithShape="0" blurRad="127000" dist="38100" dir="5400000">
              <a:srgbClr val="0A094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0" y="1874520"/>
            <a:ext cx="3547872" cy="109728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3.x (KRaft)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3.5 Structured Streaming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1.20 (SQL)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/ SQS + Lambda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MiniStack (Parquet)</a:t>
            </a:r>
            <a:endParaRPr lang="en-US" sz="1300" dirty="0"/>
          </a:p>
        </p:txBody>
      </p:sp>
      <p:pic>
        <p:nvPicPr>
          <p:cNvPr id="11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Streaming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201168" cy="27432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" y="54864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APROFUNDAR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Leituras da aula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57800" cy="4572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20240"/>
            <a:ext cx="91440" cy="45720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AKIDAU, T. et al.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Systems.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2018.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SHAPIRA, G. et al.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Kafka: The Definitive Guide.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 ed. O’Reilly, 2021.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STOPFORD, B.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Event-Driven Systems.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O’Reilly, 2018.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ROY, G.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in Depth.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Manning, 2017.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57800" cy="4572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920240"/>
            <a:ext cx="91440" cy="457200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2542032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KREPS, J. et al.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Kafka: A Distributed Messaging System.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NetDB, 2011.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CARBONE, P. et al.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Flink: Stream and Batch in One Engine.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IEEE, 2015.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1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AKIDAU, T. et al. </a:t>
            </a:r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Dataflow Model.</a:t>
            </a:r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VLDB, 2015.</a:t>
            </a:r>
            <a:endParaRPr lang="en-US" sz="1150" dirty="0"/>
          </a:p>
        </p:txBody>
      </p:sp>
      <p:pic>
        <p:nvPicPr>
          <p:cNvPr id="13" name="Image 0" descr="/private/tmp/claude-501/-Users-leandroimail-Documents-Big-Data/46548dac-03f9-4350-9127-15038cd5013e/scratchpad/deck-build/assets/circula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1908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1560" y="6400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 Poli-USP  ·  Ecossistema de Big Data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52160" y="6400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 · Streaming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500055" y="6400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21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0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CF101"/>
          </a:solidFill>
          <a:ln/>
        </p:spPr>
      </p:sp>
      <p:pic>
        <p:nvPicPr>
          <p:cNvPr id="4" name="Image 0" descr="/private/tmp/claude-501/-Users-leandroimail-Documents-Big-Data/46548dac-03f9-4350-9127-15038cd5013e/scratchpad/deck-build/assets/brasao-white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8321040" y="914400"/>
            <a:ext cx="402336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14884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Fim da jornada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85800" y="38862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HDFS ao streaming: você percorreu todo o ciclo de vida do dado em escala.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7D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é mão na massa — capriche nos 4 tutoriais em grupo. Sucesso!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5440680"/>
            <a:ext cx="457200" cy="73152"/>
          </a:xfrm>
          <a:prstGeom prst="rect">
            <a:avLst/>
          </a:prstGeom>
          <a:solidFill>
            <a:srgbClr val="FCF10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F1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Leandro Mendes Ferreira · leandro.mferreira@usp.br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PECE Poli-USP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Leandro Mendes Ferreira</dc:creator>
  <cp:lastModifiedBy>Leandro Mendes Ferreira</cp:lastModifiedBy>
  <cp:revision>1</cp:revision>
  <dcterms:created xsi:type="dcterms:W3CDTF">2026-07-16T15:21:18Z</dcterms:created>
  <dcterms:modified xsi:type="dcterms:W3CDTF">2026-07-16T15:21:18Z</dcterms:modified>
</cp:coreProperties>
</file>
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635240" y="502920"/>
            <a:ext cx="4846320" cy="5513832"/>
          </a:xfrm>
          <a:prstGeom prst="rect">
            <a:avLst/>
          </a:prstGeom>
        </p:spPr>
      </p:pic>
      <p:pic>
        <p:nvPicPr>
          <p:cNvPr id="5" name="Image 1" descr="/private/tmp/claude-501/-Users-leandroimail-Documents-Big-Data/46548dac-03f9-4350-9127-15038cd5013e/scratchpad/deck-build/assets/wordmark-poliu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286000" cy="4096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1155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Educação Continuada em Engenharia  ·  Escola Politécnica da USP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580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Introdução a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Data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685800" y="4526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V’s, as origens no Google e o ecossistema Hadoop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85800" y="5440680"/>
            <a:ext cx="6949440" cy="0"/>
          </a:xfrm>
          <a:prstGeom prst="line">
            <a:avLst/>
          </a:prstGeom>
          <a:noFill/>
          <a:ln w="12700">
            <a:solidFill>
              <a:srgbClr val="23219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555955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eEDB-006 · Ecossistema de Big Data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teórica · fundamentos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79815" y="6263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· Poli-USP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42"/>
          </a:solidFill>
          <a:ln/>
        </p:spPr>
      </p:sp>
      <p:pic>
        <p:nvPicPr>
          <p:cNvPr id="3" name="Image 0" descr="/private/tmp/claude-501/-Users-leandroimail-Documents-Big-Data/46548dac-03f9-4350-9127-15038cd5013e/scratchpad/deck-build/assets/circular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9418320" y="448056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321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8580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Data não é sobre “muitos dados” — é sobre dados que quebram a arquitetura de uma máquina só.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85800" y="507492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volume, velocidade e variedade excedem o servidor único, muda a engenharia.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Big Data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pelos 5 V’s e o que muda em relação ao dado tradicional.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7842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origens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papers do Google que fundaram a área: GFS, MapReduce e Bigtable.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9885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HDFS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distribuído: blocos, réplicas, NameNode e DataNodes.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5" name="Shape 20"/>
          <p:cNvSpPr/>
          <p:nvPr/>
        </p:nvSpPr>
        <p:spPr>
          <a:xfrm>
            <a:off x="941832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617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MapReduce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41832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map → shuffle → reduce para processar em paralelo.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77842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77842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1" name="Shape 25"/>
          <p:cNvSpPr/>
          <p:nvPr/>
        </p:nvSpPr>
        <p:spPr>
          <a:xfrm>
            <a:off x="4633874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6177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33874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YARN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633874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gerenciador de recursos que orquestra o cluster.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69885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9885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7" name="Shape 30"/>
          <p:cNvSpPr/>
          <p:nvPr/>
        </p:nvSpPr>
        <p:spPr>
          <a:xfrm>
            <a:off x="8325917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6177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25917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Ecossistema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25917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Hive, HBase, Spark e as peças que crescem sobre o Hadoop.</a:t>
            </a:r>
            <a:endParaRPr lang="en-US" sz="1250" dirty="0"/>
          </a:p>
        </p:txBody>
      </p:sp>
      <p:pic>
        <p:nvPicPr>
          <p:cNvPr id="41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5 V’s do Big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clássica de caracterizar o problema — e o que cada dimensão exige da engenharia.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959193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15019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1483705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tera a petabytes — não cabe (nem processa) em uma máquina só.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901025" y="2286000"/>
            <a:ext cx="1959193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01025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4" name="Shape 11"/>
          <p:cNvSpPr/>
          <p:nvPr/>
        </p:nvSpPr>
        <p:spPr>
          <a:xfrm>
            <a:off x="3157057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217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7057" y="3154680"/>
            <a:ext cx="15019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Velocidade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157057" y="3566160"/>
            <a:ext cx="1483705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chegam rápido e contínuos; muitas vezes precisam de resposta em tempo real.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116251" y="2286000"/>
            <a:ext cx="1959193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16251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0" name="Shape 16"/>
          <p:cNvSpPr/>
          <p:nvPr/>
        </p:nvSpPr>
        <p:spPr>
          <a:xfrm>
            <a:off x="5372283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43" y="266090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72283" y="3154680"/>
            <a:ext cx="15019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Variedade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5372283" y="3566160"/>
            <a:ext cx="1483705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Estruturado, semiestruturado e não estruturado convivendo (JSON, logs, imagens).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331476" y="2286000"/>
            <a:ext cx="1959193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331476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6" name="Shape 21"/>
          <p:cNvSpPr/>
          <p:nvPr/>
        </p:nvSpPr>
        <p:spPr>
          <a:xfrm>
            <a:off x="7587508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668" y="266090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87508" y="3154680"/>
            <a:ext cx="15019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Veracidade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7587508" y="3566160"/>
            <a:ext cx="1483705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confiança: dado incerto, incompleto ou duplicado é regra, não exceção.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546702" y="2286000"/>
            <a:ext cx="1959193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546702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2" name="Shape 26"/>
          <p:cNvSpPr/>
          <p:nvPr/>
        </p:nvSpPr>
        <p:spPr>
          <a:xfrm>
            <a:off x="9802734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894" y="2660904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802734" y="3154680"/>
            <a:ext cx="15019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9802734" y="3566160"/>
            <a:ext cx="1483705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fim de tudo: transformar volume bruto em decisão e produto.</a:t>
            </a:r>
            <a:endParaRPr lang="en-US" sz="1250" dirty="0"/>
          </a:p>
        </p:txBody>
      </p:sp>
      <p:pic>
        <p:nvPicPr>
          <p:cNvPr id="36" name="Image 5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CENTRAL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 para cima × escalar para os lados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servidor não dá conta, há dois caminhos — e o Big Data escolheu o segundo.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(vertical)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maior: mais CPU/RAM. Simples, mas caro e com teto físico.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(horizontal)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máquinas comuns (commodity) em cluster — a aposta do Hadoop.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a computação, não o dado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onde o dado está (data locality) em vez de trafegá-lo pela rede.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é normal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centenas de nós, algo sempre falha; o software tolera via replicação.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DE MENTALIDADE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commodity &gt; supercomputador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por padrão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falhas no software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particionados no cluster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AQUI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breve linha do tempo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58082" y="2953512"/>
            <a:ext cx="8875532" cy="0"/>
          </a:xfrm>
          <a:prstGeom prst="line">
            <a:avLst/>
          </a:prstGeom>
          <a:noFill/>
          <a:ln w="38100">
            <a:solidFill>
              <a:srgbClr val="E8E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6330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56330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2003–04 · Google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do GFS e do MapReduce descrevem como o Google processa a web.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75213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75213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904683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4683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6" name="Text 14"/>
          <p:cNvSpPr/>
          <p:nvPr/>
        </p:nvSpPr>
        <p:spPr>
          <a:xfrm>
            <a:off x="3087563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2006 · Hadoop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87563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 Cutting cria o Hadoop (Yahoo!): GFS + MapReduce open source.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94096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94096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23566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3566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2" name="Text 20"/>
          <p:cNvSpPr/>
          <p:nvPr/>
        </p:nvSpPr>
        <p:spPr>
          <a:xfrm>
            <a:off x="5306446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2009 · Hive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06446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traz SQL para o Hadoop; nasce o SQL-on-Hadoop.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12979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2979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342449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42449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8" name="Text 26"/>
          <p:cNvSpPr/>
          <p:nvPr/>
        </p:nvSpPr>
        <p:spPr>
          <a:xfrm>
            <a:off x="7525329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 · Spark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525329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em memória, muito mais rápido que MapReduce.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31862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231862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561332" y="3703320"/>
            <a:ext cx="1944563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61332" y="3703320"/>
            <a:ext cx="1944563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4" name="Text 32"/>
          <p:cNvSpPr/>
          <p:nvPr/>
        </p:nvSpPr>
        <p:spPr>
          <a:xfrm>
            <a:off x="9744212" y="3904488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2020+ · Lakehouse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744212" y="4617720"/>
            <a:ext cx="15788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transacionais e streaming unificam lake e warehouse.</a:t>
            </a:r>
            <a:endParaRPr lang="en-US" sz="1200" dirty="0"/>
          </a:p>
        </p:txBody>
      </p:sp>
      <p:pic>
        <p:nvPicPr>
          <p:cNvPr id="36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ORIGENS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três papers que fundaram tudo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GFS (2003)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File System: como guardar arquivos gigantes em milhares de discos comuns, com réplicas. Inspira o HDFS.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7842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MapReduce (2004)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simples para paralelizar computação sobre dados distribuídos, escondendo a complexidade do cluster.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9885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Bigtable (2006)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estruturado e esparso em escala; inspira o HBase e o mundo NoSQL de colunas.</a:t>
            </a:r>
            <a:endParaRPr lang="en-US" sz="1250" dirty="0"/>
          </a:p>
        </p:txBody>
      </p:sp>
      <p:pic>
        <p:nvPicPr>
          <p:cNvPr id="23" name="Image 3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o HDFS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grandes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é quebrado em blocos (ex.: 128 MB) espalhados pelos DataNodes.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é copiado (fator 3, por padrão) — se um nó cai, o dado sobrevive.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os metadados: onde está cada bloco. É o cérebro do sistema.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 os blocos de fato e reportam saúde ao NameNode.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— comandos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enviar arquivo para o HDFS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-mkdir -p /user/hduser/input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-put lorem.txt /user/hduser/input/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listar e inspecionar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-ls  /user/hduser/input/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-du -h 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a saída de um job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dfs -cat /user/.../part-r-00000 | head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usará exatamente estes comandos no Tutorial 1.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modelo MapReduce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processa sua fatia e emite pares (chave, valor).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&amp; Sort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framework agrupa todos os valores de uma mesma chave.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chave é agregada (soma, contagem…) gerando o resultado.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Clássico: WordCount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palavras num texto — o “Hello World” do Big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WordCount (pseudocódigo)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map(linha):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 cada palavra em linha.split():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emite(palavra, 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reduce(palavra, valores):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emite(palavra, soma(valores))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entrada:  "dado dado big"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saída:    dado 2 | big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Tutorial 1 você compila e roda este job em Java no Hadoop.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PEÇAS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ecossistema Hadoop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é mais que HDFS + MapReduce: é uma plataforma sobre a qual muitas ferramentas cresceram.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HDFS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distribuído de arquivos.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7842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7842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3874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3874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YARN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33874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de recursos e agendamento de jobs no cluster.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9885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9885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5917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66090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5917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25917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sobre arquivos do HDFS (próxima aula).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85800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6" name="Shape 21"/>
          <p:cNvSpPr/>
          <p:nvPr/>
        </p:nvSpPr>
        <p:spPr>
          <a:xfrm>
            <a:off x="941832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777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HBase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941832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NoSQL de colunas, inspirado no Bigtable.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377842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377842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2" name="Shape 26"/>
          <p:cNvSpPr/>
          <p:nvPr/>
        </p:nvSpPr>
        <p:spPr>
          <a:xfrm>
            <a:off x="4633874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77774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633874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4633874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em memória, sucessor do MapReduce.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069885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69885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8" name="Shape 31"/>
          <p:cNvSpPr/>
          <p:nvPr/>
        </p:nvSpPr>
        <p:spPr>
          <a:xfrm>
            <a:off x="8325917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77774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25917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Oozie / Airflow</a:t>
            </a:r>
            <a:endParaRPr lang="en-US" sz="1550" dirty="0"/>
          </a:p>
        </p:txBody>
      </p:sp>
      <p:sp>
        <p:nvSpPr>
          <p:cNvPr id="41" name="Text 33"/>
          <p:cNvSpPr/>
          <p:nvPr/>
        </p:nvSpPr>
        <p:spPr>
          <a:xfrm>
            <a:off x="8325917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de fluxos de trabalho.</a:t>
            </a:r>
            <a:endParaRPr lang="en-US" sz="1250" dirty="0"/>
          </a:p>
        </p:txBody>
      </p:sp>
      <p:pic>
        <p:nvPicPr>
          <p:cNvPr id="42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PRÁTICO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Hadoop, Hive &amp; Ambiente de Big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tutorial (1/4 da nota) coloca a teoria desta aula para rodar — local e na AWS.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local (Docker)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um Hadoop single-node; compilar e rodar o WordCount em Java sobre o HDFS.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na prática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dados, navegar diretórios e ler a saída do job MapReduce.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nuvem (AWS Academy)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Provisionar um cluster EMR e rodar Hive; consultar dados no S3 com Athena + Glue.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em grupo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da execução (prints/saídas) conforme o roteiro do tutorial.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(HDFS + YARN)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(Java)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EMR + Hive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+ Glue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APROFUNDAR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Leituras da aula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T.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Hadoop: The Definitive Guide.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4. ed. O’Reilly, 2015.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GORELIK, A.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Big Data Lake.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2019.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KLEPPMANN, M.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Data-Intensive Applications.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2017.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FUNDADORES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GHEMAWAT, S.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File System.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SOSP, 2003.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DEAN, J.; GHEMAWAT, S.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OSDI, 2004.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CHANG, F.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Bigtable.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OSDI, 2006.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SHVACHKO, K.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Hadoop Distributed File System.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MSST, 2010.</a:t>
            </a:r>
            <a:endParaRPr lang="en-US" sz="1150" dirty="0"/>
          </a:p>
        </p:txBody>
      </p:sp>
      <p:pic>
        <p:nvPicPr>
          <p:cNvPr id="13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321040" y="914400"/>
            <a:ext cx="4023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48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Próxima: Big SQL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sabemos armazenar (HDFS) e processar (MapReduce) em escala.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escrever MapReduce à mão é penoso — a próxima aula traz o SQL de volta.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44068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leandro.mferreira@usp.br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PECE Poli-USP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Leandro Mendes Ferreira</dc:creator>
  <cp:lastModifiedBy>Leandro Mendes Ferreira</cp:lastModifiedBy>
  <cp:revision>1</cp:revision>
  <dcterms:created xsi:type="dcterms:W3CDTF">2026-07-16T15:21:15Z</dcterms:created>
  <dcterms:modified xsi:type="dcterms:W3CDTF">2026-07-16T15:21:15Z</dcterms:modified>
</cp:coreProperties>
</file>
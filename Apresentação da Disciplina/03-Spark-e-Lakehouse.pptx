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CF101"/>
          </a:solidFill>
          <a:ln/>
        </p:spPr>
      </p:sp>
      <p:pic>
        <p:nvPicPr>
          <p:cNvPr id="4" name="Image 0" descr="/private/tmp/claude-501/-Users-leandroimail-Documents-Big-Data/46548dac-03f9-4350-9127-15038cd5013e/scratchpad/deck-build/assets/brasao-white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7635240" y="502920"/>
            <a:ext cx="4846320" cy="5513832"/>
          </a:xfrm>
          <a:prstGeom prst="rect">
            <a:avLst/>
          </a:prstGeom>
        </p:spPr>
      </p:pic>
      <p:pic>
        <p:nvPicPr>
          <p:cNvPr id="5" name="Image 1" descr="/private/tmp/claude-501/-Users-leandroimail-Documents-Big-Data/46548dac-03f9-4350-9127-15038cd5013e/scratchpad/deck-build/assets/wordmark-polius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2286000" cy="40965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111556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Educação Continuada em Engenharia  ·  Escola Politécnica da USP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685800" y="2121408"/>
            <a:ext cx="2926080" cy="402336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8" name="Text 4"/>
          <p:cNvSpPr/>
          <p:nvPr/>
        </p:nvSpPr>
        <p:spPr>
          <a:xfrm>
            <a:off x="685800" y="212140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85800" y="26974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Spark e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Lakehouse</a:t>
            </a:r>
            <a:endParaRPr lang="en-US" sz="4600" dirty="0"/>
          </a:p>
        </p:txBody>
      </p:sp>
      <p:sp>
        <p:nvSpPr>
          <p:cNvPr id="10" name="Text 6"/>
          <p:cNvSpPr/>
          <p:nvPr/>
        </p:nvSpPr>
        <p:spPr>
          <a:xfrm>
            <a:off x="685800" y="45262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em memória e tabelas transacionais no data lake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85800" y="5440680"/>
            <a:ext cx="6949440" cy="0"/>
          </a:xfrm>
          <a:prstGeom prst="line">
            <a:avLst/>
          </a:prstGeom>
          <a:noFill/>
          <a:ln w="12700">
            <a:solidFill>
              <a:srgbClr val="23219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85800" y="5559552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eEDB-006 · Ecossistema de Big Data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teórica · processamento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Leandro Mendes Ferreira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579815" y="6263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· Poli-USP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42"/>
          </a:solidFill>
          <a:ln/>
        </p:spPr>
      </p:sp>
      <p:pic>
        <p:nvPicPr>
          <p:cNvPr id="3" name="Image 0" descr="/private/tmp/claude-501/-Users-leandroimail-Documents-Big-Data/46548dac-03f9-4350-9127-15038cd5013e/scratchpad/deck-build/assets/circular-white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9418320" y="4480560"/>
            <a:ext cx="237744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4572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2321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5" name="Text 2"/>
          <p:cNvSpPr/>
          <p:nvPr/>
        </p:nvSpPr>
        <p:spPr>
          <a:xfrm>
            <a:off x="68580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SALTO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233172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se, em vez de ir ao disco a cada passo, o cluster mantivesse os dados na memória entre as operações?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85800" y="5074920"/>
            <a:ext cx="457200" cy="73152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é a ideia que fez o Spark ser ordens de grandeza mais rápido que o MapReduce.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vamos 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65960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7" name="Shape 5"/>
          <p:cNvSpPr/>
          <p:nvPr/>
        </p:nvSpPr>
        <p:spPr>
          <a:xfrm>
            <a:off x="941832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34086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283464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Spark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41832" y="3246120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unificado e em memória, sucessor do MapReduce.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77842" y="1965960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77842" y="1965960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3" name="Shape 10"/>
          <p:cNvSpPr/>
          <p:nvPr/>
        </p:nvSpPr>
        <p:spPr>
          <a:xfrm>
            <a:off x="4633874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034" y="234086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33874" y="283464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633874" y="3246120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Driver, executors e cluster manager (standalone/YARN).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69885" y="1965960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69885" y="1965960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9" name="Shape 15"/>
          <p:cNvSpPr/>
          <p:nvPr/>
        </p:nvSpPr>
        <p:spPr>
          <a:xfrm>
            <a:off x="8325917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077" y="2340864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5917" y="283464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RDD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325917" y="3246120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abstração base: transformações, ações e lazy evaluation.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85800" y="4242816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5800" y="4242816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25" name="Shape 20"/>
          <p:cNvSpPr/>
          <p:nvPr/>
        </p:nvSpPr>
        <p:spPr>
          <a:xfrm>
            <a:off x="941832" y="448056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61772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41832" y="511149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DataFrame &amp; SQL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941832" y="5522976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estruturada e o otimizador Catalyst.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4377842" y="4242816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377842" y="4242816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1" name="Shape 25"/>
          <p:cNvSpPr/>
          <p:nvPr/>
        </p:nvSpPr>
        <p:spPr>
          <a:xfrm>
            <a:off x="4633874" y="448056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1034" y="4617720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633874" y="511149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Lake ao Lakehouse</a:t>
            </a:r>
            <a:endParaRPr lang="en-US" sz="1550" dirty="0"/>
          </a:p>
        </p:txBody>
      </p:sp>
      <p:sp>
        <p:nvSpPr>
          <p:cNvPr id="34" name="Text 27"/>
          <p:cNvSpPr/>
          <p:nvPr/>
        </p:nvSpPr>
        <p:spPr>
          <a:xfrm>
            <a:off x="4633874" y="5522976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data lake puro não bastava.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069885" y="4242816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069885" y="4242816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7" name="Shape 30"/>
          <p:cNvSpPr/>
          <p:nvPr/>
        </p:nvSpPr>
        <p:spPr>
          <a:xfrm>
            <a:off x="8325917" y="448056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077" y="4617720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325917" y="511149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Iceberg &amp; Delta</a:t>
            </a:r>
            <a:endParaRPr lang="en-US" sz="1550" dirty="0"/>
          </a:p>
        </p:txBody>
      </p:sp>
      <p:sp>
        <p:nvSpPr>
          <p:cNvPr id="40" name="Text 32"/>
          <p:cNvSpPr/>
          <p:nvPr/>
        </p:nvSpPr>
        <p:spPr>
          <a:xfrm>
            <a:off x="8325917" y="5522976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ACID, time travel e schema evolution no lake.</a:t>
            </a:r>
            <a:endParaRPr lang="en-US" sz="1250" dirty="0"/>
          </a:p>
        </p:txBody>
      </p:sp>
      <p:pic>
        <p:nvPicPr>
          <p:cNvPr id="41" name="Image 6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43" name="Text 34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Spark &amp; Lakehouse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Spark venceu o MapReduce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MapReduce funcionava, mas gravava tudo em disco a cada etapa — caro para pipelines iterativos.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6903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memória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dados intermediários na RAM entre operações; ideal para ML e iterações.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unificado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Batch, SQL, streaming, ML (MLlib) e grafos numa só API.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de alto nível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Scala, Java, R e SQL — muito além do map/reduce cru.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+ DAG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Constrói um grafo de execução e o otimiza antes de rodar.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55280" y="1874520"/>
            <a:ext cx="3547872" cy="4160520"/>
          </a:xfrm>
          <a:prstGeom prst="rect">
            <a:avLst/>
          </a:prstGeom>
          <a:solidFill>
            <a:srgbClr val="12107E"/>
          </a:solidFill>
          <a:ln/>
          <a:effectLst>
            <a:outerShdw sx="100000" sy="100000" kx="0" ky="0" algn="bl" rotWithShape="0" blurRad="127000" dist="38100" dir="5400000">
              <a:srgbClr val="0A0942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0" y="1874520"/>
            <a:ext cx="3547872" cy="109728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RODA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265176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YARN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(dev)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/ Databricks (nuvem)</a:t>
            </a:r>
            <a:endParaRPr lang="en-US" sz="1300" dirty="0"/>
          </a:p>
        </p:txBody>
      </p:sp>
      <p:pic>
        <p:nvPicPr>
          <p:cNvPr id="11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Spark &amp; Lakehouse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Driver, executors e cluster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seu programa, cria o plano (DAG) e coordena o trabalho.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Manager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 recursos: standalone, YARN ou Kubernetes.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nos workers que executam tarefas e guardam dados em cache.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Partições &amp; tarefas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é dividido em partições; cada uma vira uma task paralela.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874520"/>
            <a:ext cx="5148072" cy="4160520"/>
          </a:xfrm>
          <a:prstGeom prst="rect">
            <a:avLst/>
          </a:prstGeom>
          <a:solidFill>
            <a:srgbClr val="0A0942"/>
          </a:solidFill>
          <a:ln/>
          <a:effectLst>
            <a:outerShdw sx="100000" sy="100000" kx="0" ky="0" algn="bl" rotWithShape="0" blurRad="127000" dist="38100" dir="5400000">
              <a:srgbClr val="0A094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55080" y="1874520"/>
            <a:ext cx="5148072" cy="384048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8" name="Shape 6"/>
          <p:cNvSpPr/>
          <p:nvPr/>
        </p:nvSpPr>
        <p:spPr>
          <a:xfrm>
            <a:off x="6556248" y="201168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6775704" y="201168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6995160" y="201168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1874520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PySpark — SparkSession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11112" y="2395728"/>
            <a:ext cx="46908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pyspark.sql import SparkSession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 = (SparkSession.builder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.appName("curso")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# usa todos os cores locais: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.master("local[*]")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.getOrCreate())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spark.read.parquet("s3a://lake/vendas/")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df.printSchema()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df.count()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55080" y="6108192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local[*] no dev; em produção, o master aponta para YARN/K8s.</a:t>
            </a:r>
            <a:endParaRPr lang="en-US" sz="1050" dirty="0"/>
          </a:p>
        </p:txBody>
      </p:sp>
      <p:pic>
        <p:nvPicPr>
          <p:cNvPr id="14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Spark &amp; Lakehouse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 BASE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RDD: o coração do Spark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Distributed Dataset — uma coleção imutável, particionada e tolerante a falhas.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6903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Transformações (lazy)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filter, flatMap, union… retornam um novo RDD e não executam nada ainda.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(disparam)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collect, take, save… é aqui que o Spark realmente calcula.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Spark lembra como cada RDD foi derivado; se um nó cai, recomputa a partição.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Imutável e particionado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altera um RDD; cria-se outro — o que permite paralelismo seguro.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55280" y="1874520"/>
            <a:ext cx="3547872" cy="4160520"/>
          </a:xfrm>
          <a:prstGeom prst="rect">
            <a:avLst/>
          </a:prstGeom>
          <a:solidFill>
            <a:srgbClr val="12107E"/>
          </a:solidFill>
          <a:ln/>
          <a:effectLst>
            <a:outerShdw sx="100000" sy="100000" kx="0" ky="0" algn="bl" rotWithShape="0" blurRad="127000" dist="38100" dir="5400000">
              <a:srgbClr val="0A0942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0" y="1874520"/>
            <a:ext cx="3547872" cy="109728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265176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roda até uma ação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Transformações só desenham o DAG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collect() traz tudo ao driver (cuidado!)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cache() reusa em memória</a:t>
            </a:r>
            <a:endParaRPr lang="en-US" sz="1300" dirty="0"/>
          </a:p>
        </p:txBody>
      </p:sp>
      <p:pic>
        <p:nvPicPr>
          <p:cNvPr id="11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Spark &amp; Lakehouse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ESTRUTURADA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DataFrame &amp; Spark SQL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em linhas e colunas com schema — como uma tabela distribuída.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motor que SQL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df.filter(...) e SELECT ... geram o mesmo plano otimizado.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otimizador reescreve a consulta: pushdown, poda de colunas, reordenação.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Tungsten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código e memória off-heap para execução veloz.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874520"/>
            <a:ext cx="5148072" cy="4160520"/>
          </a:xfrm>
          <a:prstGeom prst="rect">
            <a:avLst/>
          </a:prstGeom>
          <a:solidFill>
            <a:srgbClr val="0A0942"/>
          </a:solidFill>
          <a:ln/>
          <a:effectLst>
            <a:outerShdw sx="100000" sy="100000" kx="0" ky="0" algn="bl" rotWithShape="0" blurRad="127000" dist="38100" dir="5400000">
              <a:srgbClr val="0A094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55080" y="1874520"/>
            <a:ext cx="5148072" cy="384048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8" name="Shape 6"/>
          <p:cNvSpPr/>
          <p:nvPr/>
        </p:nvSpPr>
        <p:spPr>
          <a:xfrm>
            <a:off x="6556248" y="201168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6775704" y="201168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6995160" y="201168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1874520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 API + SQL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11112" y="2395728"/>
            <a:ext cx="46908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API funcional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(df.filter(df.categoria == "Eletronicos")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.groupBy("categoria")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.sum("valor")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.show())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 o mesmo em SQL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df.createOrReplaceTempView("vendas")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spark.sql("""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categoria, SUM(valor) AS total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vendas GROUP BY categoria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""").show()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55080" y="6108192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exercita create, load, schema, joins e agregações no Tutorial 2.</a:t>
            </a:r>
            <a:endParaRPr lang="en-US" sz="1050" dirty="0"/>
          </a:p>
        </p:txBody>
      </p:sp>
      <p:pic>
        <p:nvPicPr>
          <p:cNvPr id="14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Spark &amp; Lakehouse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Lake não bastava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arquivos baratos no object storage é ótimo — até você precisar de confiabilidade transacional.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6903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ACID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Escritas concorrentes e falhas no meio deixam o lake inconsistente.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UPDATE/DELETE fácil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um registro ou atender LGPD vira reprocessar tudo.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frágil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colunas quebra leituras; não há evolução controlada.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“Data swamp”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governança, o lake vira um pântano de arquivos que ninguém confia.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55280" y="1874520"/>
            <a:ext cx="3547872" cy="4160520"/>
          </a:xfrm>
          <a:prstGeom prst="rect">
            <a:avLst/>
          </a:prstGeom>
          <a:solidFill>
            <a:srgbClr val="12107E"/>
          </a:solidFill>
          <a:ln/>
          <a:effectLst>
            <a:outerShdw sx="100000" sy="100000" kx="0" ky="0" algn="bl" rotWithShape="0" blurRad="127000" dist="38100" dir="5400000">
              <a:srgbClr val="0A0942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0" y="1874520"/>
            <a:ext cx="3547872" cy="109728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× LAKE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265176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Warehouse: confiável, caro, fechado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Lake: barato, flexível, sem garantias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Lakehouse: o melhor dos dois</a:t>
            </a:r>
            <a:endParaRPr lang="en-US" sz="1300" dirty="0"/>
          </a:p>
        </p:txBody>
      </p:sp>
      <p:pic>
        <p:nvPicPr>
          <p:cNvPr id="11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Spark &amp; Lakehouse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CONVERGÊNCIA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Warehouse → Lake → Lakehouse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397709" y="2953512"/>
            <a:ext cx="7396277" cy="0"/>
          </a:xfrm>
          <a:prstGeom prst="line">
            <a:avLst/>
          </a:prstGeom>
          <a:noFill/>
          <a:ln w="38100">
            <a:solidFill>
              <a:srgbClr val="E8EA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95957" y="2651760"/>
            <a:ext cx="603504" cy="603504"/>
          </a:xfrm>
          <a:prstGeom prst="ellipse">
            <a:avLst/>
          </a:prstGeom>
          <a:solidFill>
            <a:srgbClr val="12107E"/>
          </a:solidFill>
          <a:ln/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95957" y="2651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F1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" y="3703320"/>
            <a:ext cx="3423818" cy="246888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703320"/>
            <a:ext cx="3423818" cy="82296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904488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Warehouse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8680" y="4617720"/>
            <a:ext cx="30580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Confiável e rápido para BI, mas caro, proprietário e só dado estruturado.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94096" y="2651760"/>
            <a:ext cx="603504" cy="603504"/>
          </a:xfrm>
          <a:prstGeom prst="ellipse">
            <a:avLst/>
          </a:prstGeom>
          <a:solidFill>
            <a:srgbClr val="12107E"/>
          </a:solidFill>
          <a:ln/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94096" y="2651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F1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383938" y="3703320"/>
            <a:ext cx="3423818" cy="246888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3938" y="3703320"/>
            <a:ext cx="3423818" cy="82296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6" name="Text 14"/>
          <p:cNvSpPr/>
          <p:nvPr/>
        </p:nvSpPr>
        <p:spPr>
          <a:xfrm>
            <a:off x="4566818" y="3904488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Lake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66818" y="4617720"/>
            <a:ext cx="30580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Barato e flexível (qualquer formato), porém sem ACID nem governança.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92234" y="2651760"/>
            <a:ext cx="603504" cy="603504"/>
          </a:xfrm>
          <a:prstGeom prst="ellipse">
            <a:avLst/>
          </a:prstGeom>
          <a:solidFill>
            <a:srgbClr val="12107E"/>
          </a:solidFill>
          <a:ln/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492234" y="2651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F1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082077" y="3703320"/>
            <a:ext cx="3423818" cy="246888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82077" y="3703320"/>
            <a:ext cx="3423818" cy="82296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22" name="Text 20"/>
          <p:cNvSpPr/>
          <p:nvPr/>
        </p:nvSpPr>
        <p:spPr>
          <a:xfrm>
            <a:off x="8264957" y="3904488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Lakehouse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64957" y="4617720"/>
            <a:ext cx="30580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transacional sobre arquivos abertos: confiança do warehouse, custo do lake.</a:t>
            </a:r>
            <a:endParaRPr lang="en-US" sz="1200" dirty="0"/>
          </a:p>
        </p:txBody>
      </p:sp>
      <p:pic>
        <p:nvPicPr>
          <p:cNvPr id="24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Spark &amp; Lakehouse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FORMATS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Lakehouse adiciona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Iceberg, Delta e Hudi transformam pastas de Parquet em tabelas de verdade.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3436010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286000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8" name="Shape 6"/>
          <p:cNvSpPr/>
          <p:nvPr/>
        </p:nvSpPr>
        <p:spPr>
          <a:xfrm>
            <a:off x="941832" y="252374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66090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41832" y="315468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Transações ACID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41832" y="3566160"/>
            <a:ext cx="296052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Escritas atômicas e isoladas, mesmo com múltiplos escritores.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77842" y="2286000"/>
            <a:ext cx="3436010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77842" y="2286000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4" name="Shape 11"/>
          <p:cNvSpPr/>
          <p:nvPr/>
        </p:nvSpPr>
        <p:spPr>
          <a:xfrm>
            <a:off x="4633874" y="252374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034" y="2660904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33874" y="315468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travel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633874" y="3566160"/>
            <a:ext cx="296052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a tabela como ela era em um snapshot/versão anterior.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69885" y="2286000"/>
            <a:ext cx="3436010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69885" y="2286000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20" name="Shape 16"/>
          <p:cNvSpPr/>
          <p:nvPr/>
        </p:nvSpPr>
        <p:spPr>
          <a:xfrm>
            <a:off x="8325917" y="252374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077" y="2660904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25917" y="315468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evolution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8325917" y="3566160"/>
            <a:ext cx="296052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Adicionar/renomear colunas com segurança, sem reescrever tudo.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85800" y="4402836"/>
            <a:ext cx="3436010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85800" y="4402836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26" name="Shape 21"/>
          <p:cNvSpPr/>
          <p:nvPr/>
        </p:nvSpPr>
        <p:spPr>
          <a:xfrm>
            <a:off x="941832" y="464058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77774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41832" y="527151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/ DELETE / MERGE</a:t>
            </a:r>
            <a:endParaRPr lang="en-US" sz="1550" dirty="0"/>
          </a:p>
        </p:txBody>
      </p:sp>
      <p:sp>
        <p:nvSpPr>
          <p:cNvPr id="29" name="Text 23"/>
          <p:cNvSpPr/>
          <p:nvPr/>
        </p:nvSpPr>
        <p:spPr>
          <a:xfrm>
            <a:off x="941832" y="5682996"/>
            <a:ext cx="296052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Correções e upserts em nível de registro no lake.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4377842" y="4402836"/>
            <a:ext cx="3436010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377842" y="4402836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2" name="Shape 26"/>
          <p:cNvSpPr/>
          <p:nvPr/>
        </p:nvSpPr>
        <p:spPr>
          <a:xfrm>
            <a:off x="4633874" y="464058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1034" y="4777740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633874" y="527151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partitioning</a:t>
            </a:r>
            <a:endParaRPr lang="en-US" sz="1550" dirty="0"/>
          </a:p>
        </p:txBody>
      </p:sp>
      <p:sp>
        <p:nvSpPr>
          <p:cNvPr id="35" name="Text 28"/>
          <p:cNvSpPr/>
          <p:nvPr/>
        </p:nvSpPr>
        <p:spPr>
          <a:xfrm>
            <a:off x="4633874" y="5682996"/>
            <a:ext cx="296052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gerencia partições sem poluir a query (partition evolution).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8069885" y="4402836"/>
            <a:ext cx="3436010" cy="186080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069885" y="4402836"/>
            <a:ext cx="91440" cy="186080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8" name="Shape 31"/>
          <p:cNvSpPr/>
          <p:nvPr/>
        </p:nvSpPr>
        <p:spPr>
          <a:xfrm>
            <a:off x="8325917" y="464058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077" y="4777740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325917" y="527151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Compaction &amp; vacuum</a:t>
            </a:r>
            <a:endParaRPr lang="en-US" sz="1550" dirty="0"/>
          </a:p>
        </p:txBody>
      </p:sp>
      <p:sp>
        <p:nvSpPr>
          <p:cNvPr id="41" name="Text 33"/>
          <p:cNvSpPr/>
          <p:nvPr/>
        </p:nvSpPr>
        <p:spPr>
          <a:xfrm>
            <a:off x="8325917" y="5682996"/>
            <a:ext cx="296052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arquivos pequenos e limpa versões antigas para performance.</a:t>
            </a:r>
            <a:endParaRPr lang="en-US" sz="1250" dirty="0"/>
          </a:p>
        </p:txBody>
      </p:sp>
      <p:pic>
        <p:nvPicPr>
          <p:cNvPr id="42" name="Image 6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Spark &amp; Lakehouse</a:t>
            </a:r>
            <a:endParaRPr lang="en-US" sz="950" dirty="0"/>
          </a:p>
        </p:txBody>
      </p:sp>
      <p:sp>
        <p:nvSpPr>
          <p:cNvPr id="45" name="Text 36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Apache Iceberg com Spark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aberto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 versionados sobre arquivos Parquet — sem lock-in.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Hadoop, Hive/Glue ou REST controlam snapshots e tabelas.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 de engine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Spark, Flink, Trino e Dremio leem a mesma tabela.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formato do Tutorial 2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cria, insere e consulta tabelas Iceberg via PySpark.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874520"/>
            <a:ext cx="5148072" cy="4160520"/>
          </a:xfrm>
          <a:prstGeom prst="rect">
            <a:avLst/>
          </a:prstGeom>
          <a:solidFill>
            <a:srgbClr val="0A0942"/>
          </a:solidFill>
          <a:ln/>
          <a:effectLst>
            <a:outerShdw sx="100000" sy="100000" kx="0" ky="0" algn="bl" rotWithShape="0" blurRad="127000" dist="38100" dir="5400000">
              <a:srgbClr val="0A094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55080" y="1874520"/>
            <a:ext cx="5148072" cy="384048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8" name="Shape 6"/>
          <p:cNvSpPr/>
          <p:nvPr/>
        </p:nvSpPr>
        <p:spPr>
          <a:xfrm>
            <a:off x="6556248" y="201168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6775704" y="201168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6995160" y="201168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1874520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 SQL + Iceberg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11112" y="2395728"/>
            <a:ext cx="46908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local.db.vendas 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INT, categoria STRING, valor DOUBLE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USING iceberg;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local.db.vendas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(1,'Eletronicos',199.9);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viagem no tempo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local.db.vendas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VERSION AS OF 1;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55080" y="6108192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 do Tutorial 2: iceberg-spark-runtime 1.10.2.</a:t>
            </a:r>
            <a:endParaRPr lang="en-US" sz="1050" dirty="0"/>
          </a:p>
        </p:txBody>
      </p:sp>
      <p:pic>
        <p:nvPicPr>
          <p:cNvPr id="14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Spark &amp; Lakehouse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PRÁTICO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Spark &amp; Lakehouse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segundo tutorial (1/4 da nota) leva Spark e Iceberg do ambiente ao código.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6903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Spark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e validar PySpark local, via Docker e em Jupyter Notebook.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Transformações e ações; entender lazy evaluation na prática.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load, schema, select, filtros, joins e agregações (SQL e API).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com Iceberg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tabela, inserir, consultar e testar time travel.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55280" y="1874520"/>
            <a:ext cx="3547872" cy="4160520"/>
          </a:xfrm>
          <a:prstGeom prst="rect">
            <a:avLst/>
          </a:prstGeom>
          <a:solidFill>
            <a:srgbClr val="12107E"/>
          </a:solidFill>
          <a:ln/>
          <a:effectLst>
            <a:outerShdw sx="100000" sy="100000" kx="0" ky="0" algn="bl" rotWithShape="0" blurRad="127000" dist="38100" dir="5400000">
              <a:srgbClr val="0A0942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0" y="1874520"/>
            <a:ext cx="3547872" cy="109728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265176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3.5.x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&amp; DataFrame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Iceberg 1.10.2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Jupyter</a:t>
            </a:r>
            <a:endParaRPr lang="en-US" sz="1300" dirty="0"/>
          </a:p>
        </p:txBody>
      </p:sp>
      <p:pic>
        <p:nvPicPr>
          <p:cNvPr id="11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Spark &amp; Lakehouse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APROFUNDAR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Leituras da aula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5257800" cy="457200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920240"/>
            <a:ext cx="91440" cy="45720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542032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CHAMBERS, B.; ZAHARIA, M.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Spark: The Definitive Guide.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O’Reilly, 2018.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SHIRAN, T. et al.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Iceberg: The Definitive Guide.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O’Reilly, 2024.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LEE, D. et al.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Lake: The Definitive Guide.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O’Reilly, 2024.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57800" cy="457200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1920240"/>
            <a:ext cx="91440" cy="45720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20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2542032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ZAHARIA, M. et al.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Distributed Datasets (RDD).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NSDI, 2012.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ARMBRUST, M. et al.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Lakehouse: A New Generation of Open Platforms.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CIDR, 2021.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ARMBRUST, M. et al.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SQL: Relational Data Processing.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SIGMOD, 2015.</a:t>
            </a:r>
            <a:endParaRPr lang="en-US" sz="1150" dirty="0"/>
          </a:p>
        </p:txBody>
      </p:sp>
      <p:pic>
        <p:nvPicPr>
          <p:cNvPr id="13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Spark &amp; Lakehouse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0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CF101"/>
          </a:solidFill>
          <a:ln/>
        </p:spPr>
      </p:sp>
      <p:pic>
        <p:nvPicPr>
          <p:cNvPr id="4" name="Image 0" descr="/private/tmp/claude-501/-Users-leandroimail-Documents-Big-Data/46548dac-03f9-4350-9127-15038cd5013e/scratchpad/deck-build/assets/brasao-white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8321040" y="914400"/>
            <a:ext cx="402336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14884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Próxima: Ingestão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85800" y="38862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sabemos processar e guardar com confiança (Spark + Lakehouse).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como o dado chega ao lake? A próxima aula é sobre ingestão.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5440680"/>
            <a:ext cx="457200" cy="73152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577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 leandro.mferreira@usp.br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PECE Poli-USP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Leandro Mendes Ferreira</dc:creator>
  <cp:lastModifiedBy>Leandro Mendes Ferreira</cp:lastModifiedBy>
  <cp:revision>1</cp:revision>
  <dcterms:created xsi:type="dcterms:W3CDTF">2026-07-16T15:21:17Z</dcterms:created>
  <dcterms:modified xsi:type="dcterms:W3CDTF">2026-07-16T15:21:17Z</dcterms:modified>
</cp:coreProperties>
</file>